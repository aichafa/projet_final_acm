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5" r:id="rId7"/>
    <p:sldId id="261"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319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hyperlink" Target="https://huggingface.co/spaces/AichaFaHugFace/Auditeur-App-Gradio" TargetMode="External"/><Relationship Id="rId6" Type="http://schemas.openxmlformats.org/officeDocument/2006/relationships/hyperlink" Target="https://github.com/AichaFa/projet_final_ACM" TargetMode="External"/><Relationship Id="rId7"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5C"/>
        </a:solidFill>
        <a:effectLst/>
      </p:bgPr>
    </p:bg>
    <p:spTree>
      <p:nvGrpSpPr>
        <p:cNvPr id="1" name=""/>
        <p:cNvGrpSpPr/>
        <p:nvPr/>
      </p:nvGrpSpPr>
      <p:grpSpPr>
        <a:xfrm>
          <a:off x="0" y="0"/>
          <a:ext cx="0" cy="0"/>
          <a:chOff x="0" y="0"/>
          <a:chExt cx="0" cy="0"/>
        </a:xfrm>
      </p:grpSpPr>
      <p:sp>
        <p:nvSpPr>
          <p:cNvPr id="2" name="Shape 0"/>
          <p:cNvSpPr/>
          <p:nvPr/>
        </p:nvSpPr>
        <p:spPr>
          <a:xfrm>
            <a:off x="822960" y="2331720"/>
            <a:ext cx="1737360" cy="1737360"/>
          </a:xfrm>
          <a:prstGeom prst="ellipse">
            <a:avLst/>
          </a:prstGeom>
          <a:solidFill>
            <a:srgbClr val="0E7C86"/>
          </a:solidFill>
          <a:ln w="25400">
            <a:solidFill>
              <a:srgbClr val="3AA0A7"/>
            </a:solidFill>
            <a:prstDash val="solid"/>
          </a:ln>
        </p:spPr>
        <p:txBody>
          <a:bodyPr/>
          <a:lstStyle/>
          <a:p>
            <a:endParaRPr lang="fr-FR"/>
          </a:p>
        </p:txBody>
      </p:sp>
      <p:sp>
        <p:nvSpPr>
          <p:cNvPr id="3" name="Shape 1"/>
          <p:cNvSpPr/>
          <p:nvPr/>
        </p:nvSpPr>
        <p:spPr>
          <a:xfrm>
            <a:off x="1490472" y="2697480"/>
            <a:ext cx="402336" cy="1005840"/>
          </a:xfrm>
          <a:prstGeom prst="roundRect">
            <a:avLst>
              <a:gd name="adj" fmla="val 11364"/>
            </a:avLst>
          </a:prstGeom>
          <a:solidFill>
            <a:srgbClr val="EAF6F4"/>
          </a:solidFill>
          <a:ln/>
        </p:spPr>
        <p:txBody>
          <a:bodyPr/>
          <a:lstStyle/>
          <a:p>
            <a:endParaRPr lang="fr-FR"/>
          </a:p>
        </p:txBody>
      </p:sp>
      <p:sp>
        <p:nvSpPr>
          <p:cNvPr id="4" name="Shape 2"/>
          <p:cNvSpPr/>
          <p:nvPr/>
        </p:nvSpPr>
        <p:spPr>
          <a:xfrm>
            <a:off x="1188720" y="2999232"/>
            <a:ext cx="1005840" cy="402336"/>
          </a:xfrm>
          <a:prstGeom prst="roundRect">
            <a:avLst>
              <a:gd name="adj" fmla="val 11364"/>
            </a:avLst>
          </a:prstGeom>
          <a:solidFill>
            <a:srgbClr val="EAF6F4"/>
          </a:solidFill>
          <a:ln/>
        </p:spPr>
        <p:txBody>
          <a:bodyPr/>
          <a:lstStyle/>
          <a:p>
            <a:endParaRPr lang="fr-FR"/>
          </a:p>
        </p:txBody>
      </p:sp>
      <p:sp>
        <p:nvSpPr>
          <p:cNvPr id="5" name="Text 3"/>
          <p:cNvSpPr txBox="1"/>
          <p:nvPr/>
        </p:nvSpPr>
        <p:spPr>
          <a:xfrm>
            <a:off x="3017520" y="2057400"/>
            <a:ext cx="8595360" cy="12801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Auditeur de Cohérence Médicale</a:t>
            </a:r>
            <a:endParaRPr lang="en-US" sz="3800" dirty="0"/>
          </a:p>
        </p:txBody>
      </p:sp>
      <p:sp>
        <p:nvSpPr>
          <p:cNvPr id="6" name="Text 4"/>
          <p:cNvSpPr txBox="1"/>
          <p:nvPr/>
        </p:nvSpPr>
        <p:spPr>
          <a:xfrm>
            <a:off x="3063240" y="3429000"/>
            <a:ext cx="8503920" cy="1005840"/>
          </a:xfrm>
          <a:prstGeom prst="rect">
            <a:avLst/>
          </a:prstGeom>
          <a:noFill/>
          <a:ln/>
        </p:spPr>
        <p:txBody>
          <a:bodyPr wrap="square" lIns="0" tIns="0" rIns="0" bIns="0" rtlCol="0" anchor="ctr"/>
          <a:lstStyle/>
          <a:p>
            <a:pPr marL="0" indent="0">
              <a:lnSpc>
                <a:spcPct val="115000"/>
              </a:lnSpc>
              <a:buNone/>
            </a:pPr>
            <a:r>
              <a:rPr lang="en-US" sz="1600" dirty="0">
                <a:solidFill>
                  <a:srgbClr val="DCEEEF"/>
                </a:solidFill>
                <a:latin typeface="Calibri" pitchFamily="34" charset="0"/>
                <a:ea typeface="Calibri" pitchFamily="34" charset="-122"/>
                <a:cs typeface="Calibri" pitchFamily="34" charset="-120"/>
              </a:rPr>
              <a:t>Solution d'intelligence artificielle multimodale et chaîne MLOps de bout en bout : entraînement, déploiement, monitoring et réentraînement automatisé.</a:t>
            </a:r>
            <a:endParaRPr lang="en-US" sz="1600" dirty="0"/>
          </a:p>
        </p:txBody>
      </p:sp>
      <p:sp>
        <p:nvSpPr>
          <p:cNvPr id="7" name="Text 5"/>
          <p:cNvSpPr txBox="1"/>
          <p:nvPr/>
        </p:nvSpPr>
        <p:spPr>
          <a:xfrm>
            <a:off x="3063240" y="4892040"/>
            <a:ext cx="8229600" cy="365760"/>
          </a:xfrm>
          <a:prstGeom prst="rect">
            <a:avLst/>
          </a:prstGeom>
          <a:noFill/>
          <a:ln/>
        </p:spPr>
        <p:txBody>
          <a:bodyPr wrap="square" lIns="0" tIns="0" rIns="0" bIns="0" rtlCol="0" anchor="ctr"/>
          <a:lstStyle/>
          <a:p>
            <a:pPr marL="0" indent="0">
              <a:buNone/>
            </a:pPr>
            <a:r>
              <a:rPr lang="en-US" sz="1300" dirty="0">
                <a:solidFill>
                  <a:srgbClr val="3AA0A7"/>
                </a:solidFill>
                <a:latin typeface="Calibri" pitchFamily="34" charset="0"/>
                <a:ea typeface="Calibri" pitchFamily="34" charset="-122"/>
                <a:cs typeface="Calibri" pitchFamily="34" charset="-120"/>
              </a:rPr>
              <a:t>Bloc 4 - Construire, déployer et piloter des solutions d'IA</a:t>
            </a:r>
            <a:endParaRPr lang="en-US" sz="1300" dirty="0"/>
          </a:p>
        </p:txBody>
      </p:sp>
      <p:sp>
        <p:nvSpPr>
          <p:cNvPr id="8" name="Text 6"/>
          <p:cNvSpPr txBox="1"/>
          <p:nvPr/>
        </p:nvSpPr>
        <p:spPr>
          <a:xfrm>
            <a:off x="3063240" y="53492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Aïcha FATHELLAH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11155680" cy="64008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Contexte et objectif</a:t>
            </a:r>
            <a:endParaRPr lang="en-US" sz="3000" dirty="0"/>
          </a:p>
        </p:txBody>
      </p:sp>
      <p:sp>
        <p:nvSpPr>
          <p:cNvPr id="3" name="Text 1"/>
          <p:cNvSpPr txBox="1"/>
          <p:nvPr/>
        </p:nvSpPr>
        <p:spPr>
          <a:xfrm>
            <a:off x="502920" y="6419088"/>
            <a:ext cx="7315200" cy="32004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Auditeur de Cohérence Médicale</a:t>
            </a:r>
            <a:endParaRPr lang="en-US" sz="900" dirty="0"/>
          </a:p>
        </p:txBody>
      </p:sp>
      <p:sp>
        <p:nvSpPr>
          <p:cNvPr id="4" name="Text 2"/>
          <p:cNvSpPr txBox="1"/>
          <p:nvPr/>
        </p:nvSpPr>
        <p:spPr>
          <a:xfrm>
            <a:off x="11338560" y="6419088"/>
            <a:ext cx="365760" cy="320040"/>
          </a:xfrm>
          <a:prstGeom prst="rect">
            <a:avLst/>
          </a:prstGeom>
          <a:noFill/>
          <a:ln/>
        </p:spPr>
        <p:txBody>
          <a:bodyPr wrap="square" lIns="0" tIns="0" rIns="0" bIns="0" rtlCol="0" anchor="ctr"/>
          <a:lstStyle/>
          <a:p>
            <a:pPr marL="0" indent="0" algn="r">
              <a:buNone/>
            </a:pPr>
            <a:r>
              <a:rPr lang="en-US" sz="900" dirty="0">
                <a:solidFill>
                  <a:srgbClr val="55686E"/>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502920" y="1417320"/>
            <a:ext cx="6035040" cy="3931920"/>
          </a:xfrm>
          <a:prstGeom prst="rect">
            <a:avLst/>
          </a:prstGeom>
          <a:noFill/>
          <a:ln/>
        </p:spPr>
        <p:txBody>
          <a:bodyPr wrap="square" rtlCol="0" anchor="t"/>
          <a:lstStyle/>
          <a:p>
            <a:pPr marL="0" indent="0">
              <a:lnSpc>
                <a:spcPct val="115000"/>
              </a:lnSpc>
              <a:spcAft>
                <a:spcPts val="600"/>
              </a:spcAft>
              <a:buNone/>
            </a:pPr>
            <a:r>
              <a:rPr lang="en-US" sz="1500" b="1" dirty="0">
                <a:solidFill>
                  <a:srgbClr val="0E7C86"/>
                </a:solidFill>
                <a:latin typeface="Calibri" pitchFamily="34" charset="0"/>
                <a:ea typeface="Calibri" pitchFamily="34" charset="-122"/>
                <a:cs typeface="Calibri" pitchFamily="34" charset="-120"/>
              </a:rPr>
              <a:t>Le besoin métier</a:t>
            </a:r>
            <a:endParaRPr lang="en-US" sz="1500" dirty="0"/>
          </a:p>
          <a:p>
            <a:pPr marL="0" indent="0">
              <a:lnSpc>
                <a:spcPct val="115000"/>
              </a:lnSpc>
              <a:spcAft>
                <a:spcPts val="1200"/>
              </a:spcAft>
              <a:buNone/>
            </a:pPr>
            <a:r>
              <a:rPr lang="en-US" sz="1400" dirty="0">
                <a:solidFill>
                  <a:srgbClr val="10323A"/>
                </a:solidFill>
                <a:latin typeface="Calibri" pitchFamily="34" charset="0"/>
                <a:ea typeface="Calibri" pitchFamily="34" charset="-122"/>
                <a:cs typeface="Calibri" pitchFamily="34" charset="-120"/>
              </a:rPr>
              <a:t>En imagerie médicale, une radiographie thoracique peut être associée par erreur au compte rendu d'un autre patient. Cette incohérence documentaire constitue un risque pour la sécurité des soins et pour la fiabilité des dossiers.</a:t>
            </a:r>
            <a:endParaRPr lang="en-US" sz="1500" dirty="0"/>
          </a:p>
          <a:p>
            <a:pPr marL="0" indent="0">
              <a:lnSpc>
                <a:spcPct val="115000"/>
              </a:lnSpc>
              <a:spcAft>
                <a:spcPts val="600"/>
              </a:spcAft>
              <a:buNone/>
            </a:pPr>
            <a:r>
              <a:rPr lang="en-US" sz="1500" b="1" dirty="0">
                <a:solidFill>
                  <a:srgbClr val="0E7C86"/>
                </a:solidFill>
                <a:latin typeface="Calibri" pitchFamily="34" charset="0"/>
                <a:ea typeface="Calibri" pitchFamily="34" charset="-122"/>
                <a:cs typeface="Calibri" pitchFamily="34" charset="-120"/>
              </a:rPr>
              <a:t>La solution</a:t>
            </a:r>
            <a:endParaRPr lang="en-US" sz="1500" dirty="0"/>
          </a:p>
          <a:p>
            <a:pPr marL="0" indent="0">
              <a:lnSpc>
                <a:spcPct val="115000"/>
              </a:lnSpc>
              <a:buNone/>
            </a:pPr>
            <a:r>
              <a:rPr lang="en-US" sz="1400" dirty="0">
                <a:solidFill>
                  <a:srgbClr val="10323A"/>
                </a:solidFill>
                <a:latin typeface="Calibri" pitchFamily="34" charset="0"/>
                <a:ea typeface="Calibri" pitchFamily="34" charset="-122"/>
                <a:cs typeface="Calibri" pitchFamily="34" charset="-120"/>
              </a:rPr>
              <a:t>Un outil d'audit qui reçoit une paire image-texte et estime la probabilité qu'elle décrive le même examen. Il signale les associations incohérentes pour une revue humaine. Il ne pose pas de diagnostic.</a:t>
            </a:r>
            <a:endParaRPr lang="en-US" sz="1500" dirty="0"/>
          </a:p>
        </p:txBody>
      </p:sp>
      <p:sp>
        <p:nvSpPr>
          <p:cNvPr id="6" name="Shape 4"/>
          <p:cNvSpPr/>
          <p:nvPr/>
        </p:nvSpPr>
        <p:spPr>
          <a:xfrm>
            <a:off x="6949440" y="1737360"/>
            <a:ext cx="2148840" cy="1371600"/>
          </a:xfrm>
          <a:prstGeom prst="roundRect">
            <a:avLst>
              <a:gd name="adj" fmla="val 5333"/>
            </a:avLst>
          </a:prstGeom>
          <a:solidFill>
            <a:srgbClr val="0E7C86"/>
          </a:solidFill>
          <a:ln w="12700">
            <a:solidFill>
              <a:srgbClr val="EAF6F4"/>
            </a:solidFill>
            <a:prstDash val="solid"/>
          </a:ln>
        </p:spPr>
        <p:txBody>
          <a:bodyPr/>
          <a:lstStyle/>
          <a:p>
            <a:endParaRPr lang="fr-FR"/>
          </a:p>
        </p:txBody>
      </p:sp>
      <p:sp>
        <p:nvSpPr>
          <p:cNvPr id="7" name="Text 5"/>
          <p:cNvSpPr txBox="1"/>
          <p:nvPr/>
        </p:nvSpPr>
        <p:spPr>
          <a:xfrm>
            <a:off x="6949440" y="1737360"/>
            <a:ext cx="2148840" cy="1371600"/>
          </a:xfrm>
          <a:prstGeom prst="rect">
            <a:avLst/>
          </a:prstGeom>
          <a:noFill/>
          <a:ln/>
        </p:spPr>
        <p:txBody>
          <a:bodyPr wrap="square" lIns="25400" tIns="25400" rIns="25400" bIns="25400" rtlCol="0" anchor="ctr"/>
          <a:lstStyle/>
          <a:p>
            <a:pPr marL="0" indent="0" algn="ctr">
              <a:buNone/>
            </a:pPr>
            <a:r>
              <a:rPr lang="en-US" sz="1200" b="1" dirty="0">
                <a:solidFill>
                  <a:srgbClr val="10323A"/>
                </a:solidFill>
                <a:latin typeface="Calibri" pitchFamily="34" charset="0"/>
                <a:ea typeface="Calibri" pitchFamily="34" charset="-122"/>
                <a:cs typeface="Calibri" pitchFamily="34" charset="-120"/>
              </a:rPr>
              <a:t>Radiographie</a:t>
            </a:r>
            <a:endParaRPr lang="en-US" sz="1200" dirty="0"/>
          </a:p>
          <a:p>
            <a:pPr marL="0" indent="0" algn="ctr">
              <a:buNone/>
            </a:pPr>
            <a:r>
              <a:rPr lang="en-US" sz="900" dirty="0">
                <a:solidFill>
                  <a:srgbClr val="2C4A46"/>
                </a:solidFill>
                <a:latin typeface="Calibri" pitchFamily="34" charset="0"/>
                <a:ea typeface="Calibri" pitchFamily="34" charset="-122"/>
                <a:cs typeface="Calibri" pitchFamily="34" charset="-120"/>
              </a:rPr>
              <a:t>image thoracique</a:t>
            </a:r>
            <a:endParaRPr lang="en-US" sz="1200" dirty="0"/>
          </a:p>
        </p:txBody>
      </p:sp>
      <p:sp>
        <p:nvSpPr>
          <p:cNvPr id="8" name="Shape 6"/>
          <p:cNvSpPr/>
          <p:nvPr/>
        </p:nvSpPr>
        <p:spPr>
          <a:xfrm>
            <a:off x="9646920" y="1737360"/>
            <a:ext cx="2011680" cy="1371600"/>
          </a:xfrm>
          <a:prstGeom prst="roundRect">
            <a:avLst>
              <a:gd name="adj" fmla="val 5333"/>
            </a:avLst>
          </a:prstGeom>
          <a:solidFill>
            <a:srgbClr val="0E7C86"/>
          </a:solidFill>
          <a:ln w="12700">
            <a:solidFill>
              <a:srgbClr val="EAF6F4"/>
            </a:solidFill>
            <a:prstDash val="solid"/>
          </a:ln>
        </p:spPr>
        <p:txBody>
          <a:bodyPr/>
          <a:lstStyle/>
          <a:p>
            <a:endParaRPr lang="fr-FR"/>
          </a:p>
        </p:txBody>
      </p:sp>
      <p:sp>
        <p:nvSpPr>
          <p:cNvPr id="9" name="Text 7"/>
          <p:cNvSpPr txBox="1"/>
          <p:nvPr/>
        </p:nvSpPr>
        <p:spPr>
          <a:xfrm>
            <a:off x="9646920" y="1737360"/>
            <a:ext cx="2011680" cy="1371600"/>
          </a:xfrm>
          <a:prstGeom prst="rect">
            <a:avLst/>
          </a:prstGeom>
          <a:noFill/>
          <a:ln/>
        </p:spPr>
        <p:txBody>
          <a:bodyPr wrap="square" lIns="25400" tIns="25400" rIns="25400" bIns="25400" rtlCol="0" anchor="ctr"/>
          <a:lstStyle/>
          <a:p>
            <a:pPr marL="0" indent="0" algn="ctr">
              <a:buNone/>
            </a:pPr>
            <a:r>
              <a:rPr lang="en-US" sz="1200" b="1" dirty="0">
                <a:solidFill>
                  <a:srgbClr val="10323A"/>
                </a:solidFill>
                <a:latin typeface="Calibri" pitchFamily="34" charset="0"/>
                <a:ea typeface="Calibri" pitchFamily="34" charset="-122"/>
                <a:cs typeface="Calibri" pitchFamily="34" charset="-120"/>
              </a:rPr>
              <a:t>Compte rendu</a:t>
            </a:r>
            <a:endParaRPr lang="en-US" sz="1200" dirty="0"/>
          </a:p>
          <a:p>
            <a:pPr marL="0" indent="0" algn="ctr">
              <a:buNone/>
            </a:pPr>
            <a:r>
              <a:rPr lang="en-US" sz="900" dirty="0">
                <a:solidFill>
                  <a:srgbClr val="2C4A46"/>
                </a:solidFill>
                <a:latin typeface="Calibri" pitchFamily="34" charset="0"/>
                <a:ea typeface="Calibri" pitchFamily="34" charset="-122"/>
                <a:cs typeface="Calibri" pitchFamily="34" charset="-120"/>
              </a:rPr>
              <a:t>texte clinique</a:t>
            </a:r>
            <a:endParaRPr lang="en-US" sz="1200" dirty="0"/>
          </a:p>
        </p:txBody>
      </p:sp>
      <p:sp>
        <p:nvSpPr>
          <p:cNvPr id="10" name="Shape 8"/>
          <p:cNvSpPr/>
          <p:nvPr/>
        </p:nvSpPr>
        <p:spPr>
          <a:xfrm>
            <a:off x="9098280" y="2148840"/>
            <a:ext cx="640080" cy="640080"/>
          </a:xfrm>
          <a:prstGeom prst="ellipse">
            <a:avLst/>
          </a:prstGeom>
          <a:solidFill>
            <a:srgbClr val="D9663D"/>
          </a:solidFill>
          <a:ln/>
        </p:spPr>
        <p:txBody>
          <a:bodyPr/>
          <a:lstStyle/>
          <a:p>
            <a:endParaRPr lang="fr-FR"/>
          </a:p>
        </p:txBody>
      </p:sp>
      <p:sp>
        <p:nvSpPr>
          <p:cNvPr id="11" name="Text 9"/>
          <p:cNvSpPr txBox="1"/>
          <p:nvPr/>
        </p:nvSpPr>
        <p:spPr>
          <a:xfrm>
            <a:off x="9098280" y="21488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12" name="Shape 10"/>
          <p:cNvSpPr/>
          <p:nvPr/>
        </p:nvSpPr>
        <p:spPr>
          <a:xfrm>
            <a:off x="7635240" y="3977640"/>
            <a:ext cx="3291840" cy="1280160"/>
          </a:xfrm>
          <a:prstGeom prst="roundRect">
            <a:avLst>
              <a:gd name="adj" fmla="val 5714"/>
            </a:avLst>
          </a:prstGeom>
          <a:solidFill>
            <a:srgbClr val="2F8F6B"/>
          </a:solidFill>
          <a:ln w="12700">
            <a:solidFill>
              <a:srgbClr val="EAF6F4"/>
            </a:solidFill>
            <a:prstDash val="solid"/>
          </a:ln>
        </p:spPr>
        <p:txBody>
          <a:bodyPr/>
          <a:lstStyle/>
          <a:p>
            <a:endParaRPr lang="fr-FR"/>
          </a:p>
        </p:txBody>
      </p:sp>
      <p:sp>
        <p:nvSpPr>
          <p:cNvPr id="13" name="Text 11"/>
          <p:cNvSpPr txBox="1"/>
          <p:nvPr/>
        </p:nvSpPr>
        <p:spPr>
          <a:xfrm>
            <a:off x="7635240" y="3977640"/>
            <a:ext cx="3291840" cy="1280160"/>
          </a:xfrm>
          <a:prstGeom prst="rect">
            <a:avLst/>
          </a:prstGeom>
          <a:noFill/>
          <a:ln/>
        </p:spPr>
        <p:txBody>
          <a:bodyPr wrap="square" lIns="25400" tIns="25400" rIns="25400" bIns="25400" rtlCol="0" anchor="ctr"/>
          <a:lstStyle/>
          <a:p>
            <a:pPr marL="0" indent="0" algn="ctr">
              <a:buNone/>
            </a:pPr>
            <a:r>
              <a:rPr lang="en-US" sz="1200" b="1" dirty="0">
                <a:solidFill>
                  <a:srgbClr val="10323A"/>
                </a:solidFill>
                <a:latin typeface="Calibri" pitchFamily="34" charset="0"/>
                <a:ea typeface="Calibri" pitchFamily="34" charset="-122"/>
                <a:cs typeface="Calibri" pitchFamily="34" charset="-120"/>
              </a:rPr>
              <a:t>Verdict</a:t>
            </a:r>
            <a:endParaRPr lang="en-US" sz="1200" dirty="0"/>
          </a:p>
          <a:p>
            <a:pPr marL="0" indent="0" algn="ctr">
              <a:buNone/>
            </a:pPr>
            <a:r>
              <a:rPr lang="en-US" sz="900" dirty="0">
                <a:solidFill>
                  <a:srgbClr val="2C4A46"/>
                </a:solidFill>
                <a:latin typeface="Calibri" pitchFamily="34" charset="0"/>
                <a:ea typeface="Calibri" pitchFamily="34" charset="-122"/>
                <a:cs typeface="Calibri" pitchFamily="34" charset="-120"/>
              </a:rPr>
              <a:t>cohérent (1) ou incohérent (0)</a:t>
            </a:r>
            <a:endParaRPr lang="en-US" sz="1200" dirty="0"/>
          </a:p>
          <a:p>
            <a:pPr marL="0" indent="0" algn="ctr">
              <a:buNone/>
            </a:pPr>
            <a:r>
              <a:rPr lang="en-US" sz="900" dirty="0">
                <a:solidFill>
                  <a:srgbClr val="2C4A46"/>
                </a:solidFill>
                <a:latin typeface="Calibri" pitchFamily="34" charset="0"/>
                <a:ea typeface="Calibri" pitchFamily="34" charset="-122"/>
                <a:cs typeface="Calibri" pitchFamily="34" charset="-120"/>
              </a:rPr>
              <a:t>avec un score de confiance</a:t>
            </a:r>
            <a:endParaRPr lang="en-US" sz="1200" dirty="0"/>
          </a:p>
        </p:txBody>
      </p:sp>
      <p:sp>
        <p:nvSpPr>
          <p:cNvPr id="14" name="Shape 12"/>
          <p:cNvSpPr/>
          <p:nvPr/>
        </p:nvSpPr>
        <p:spPr>
          <a:xfrm>
            <a:off x="9281160" y="3154680"/>
            <a:ext cx="0" cy="777240"/>
          </a:xfrm>
          <a:prstGeom prst="line">
            <a:avLst/>
          </a:prstGeom>
          <a:noFill/>
          <a:ln w="22225">
            <a:solidFill>
              <a:srgbClr val="0E7C86"/>
            </a:solidFill>
            <a:prstDash val="solid"/>
            <a:tailEnd type="triangle"/>
          </a:ln>
        </p:spPr>
        <p:txBody>
          <a:bodyPr/>
          <a:lstStyle/>
          <a:p>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11155680" cy="64008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Le modèle : classification binaire multimodale</a:t>
            </a:r>
            <a:endParaRPr lang="en-US" sz="3000" dirty="0"/>
          </a:p>
        </p:txBody>
      </p:sp>
      <p:sp>
        <p:nvSpPr>
          <p:cNvPr id="3" name="Text 1"/>
          <p:cNvSpPr txBox="1"/>
          <p:nvPr/>
        </p:nvSpPr>
        <p:spPr>
          <a:xfrm>
            <a:off x="502920" y="6419088"/>
            <a:ext cx="7315200" cy="32004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Auditeur de Cohérence Médicale</a:t>
            </a:r>
            <a:endParaRPr lang="en-US" sz="900" dirty="0"/>
          </a:p>
        </p:txBody>
      </p:sp>
      <p:sp>
        <p:nvSpPr>
          <p:cNvPr id="4" name="Text 2"/>
          <p:cNvSpPr txBox="1"/>
          <p:nvPr/>
        </p:nvSpPr>
        <p:spPr>
          <a:xfrm>
            <a:off x="11338560" y="6419088"/>
            <a:ext cx="365760" cy="320040"/>
          </a:xfrm>
          <a:prstGeom prst="rect">
            <a:avLst/>
          </a:prstGeom>
          <a:noFill/>
          <a:ln/>
        </p:spPr>
        <p:txBody>
          <a:bodyPr wrap="square" lIns="0" tIns="0" rIns="0" bIns="0" rtlCol="0" anchor="ctr"/>
          <a:lstStyle/>
          <a:p>
            <a:pPr marL="0" indent="0" algn="r">
              <a:buNone/>
            </a:pPr>
            <a:r>
              <a:rPr lang="en-US" sz="900" dirty="0">
                <a:solidFill>
                  <a:srgbClr val="55686E"/>
                </a:solidFill>
                <a:latin typeface="Calibri" pitchFamily="34" charset="0"/>
                <a:ea typeface="Calibri" pitchFamily="34" charset="-122"/>
                <a:cs typeface="Calibri" pitchFamily="34" charset="-120"/>
              </a:rPr>
              <a:t>3</a:t>
            </a:r>
            <a:endParaRPr lang="en-US" sz="900" dirty="0"/>
          </a:p>
        </p:txBody>
      </p:sp>
      <p:sp>
        <p:nvSpPr>
          <p:cNvPr id="5" name="Text 3"/>
          <p:cNvSpPr txBox="1"/>
          <p:nvPr/>
        </p:nvSpPr>
        <p:spPr>
          <a:xfrm>
            <a:off x="502920" y="1188720"/>
            <a:ext cx="11155680" cy="777240"/>
          </a:xfrm>
          <a:prstGeom prst="rect">
            <a:avLst/>
          </a:prstGeom>
          <a:noFill/>
          <a:ln/>
        </p:spPr>
        <p:txBody>
          <a:bodyPr wrap="square" lIns="0" tIns="0" rIns="0" bIns="0" rtlCol="0" anchor="ctr"/>
          <a:lstStyle/>
          <a:p>
            <a:pPr marL="0" indent="0">
              <a:lnSpc>
                <a:spcPct val="115000"/>
              </a:lnSpc>
              <a:buNone/>
            </a:pPr>
            <a:r>
              <a:rPr lang="en-US" sz="1400" dirty="0">
                <a:solidFill>
                  <a:srgbClr val="10323A"/>
                </a:solidFill>
                <a:latin typeface="Calibri" pitchFamily="34" charset="0"/>
                <a:ea typeface="Calibri" pitchFamily="34" charset="-122"/>
                <a:cs typeface="Calibri" pitchFamily="34" charset="-120"/>
              </a:rPr>
              <a:t>Architecture fondée sur BioViL-T (encodeurs image et texte spécialisés pour la radiographie thoracique, licence publique MIT), surmontée d'un classifieur à attention croisée où le texte interroge les régions de l'image.</a:t>
            </a:r>
            <a:endParaRPr lang="en-US" sz="1400" dirty="0"/>
          </a:p>
        </p:txBody>
      </p:sp>
      <p:sp>
        <p:nvSpPr>
          <p:cNvPr id="6" name="Shape 4"/>
          <p:cNvSpPr/>
          <p:nvPr/>
        </p:nvSpPr>
        <p:spPr>
          <a:xfrm>
            <a:off x="502920" y="2331720"/>
            <a:ext cx="2468880" cy="1234440"/>
          </a:xfrm>
          <a:prstGeom prst="roundRect">
            <a:avLst>
              <a:gd name="adj" fmla="val 5926"/>
            </a:avLst>
          </a:prstGeom>
          <a:solidFill>
            <a:srgbClr val="0E7C86"/>
          </a:solidFill>
          <a:ln w="12700">
            <a:solidFill>
              <a:srgbClr val="EAF6F4"/>
            </a:solidFill>
            <a:prstDash val="solid"/>
          </a:ln>
        </p:spPr>
        <p:txBody>
          <a:bodyPr/>
          <a:lstStyle/>
          <a:p>
            <a:endParaRPr lang="fr-FR"/>
          </a:p>
        </p:txBody>
      </p:sp>
      <p:sp>
        <p:nvSpPr>
          <p:cNvPr id="7" name="Text 5"/>
          <p:cNvSpPr txBox="1"/>
          <p:nvPr/>
        </p:nvSpPr>
        <p:spPr>
          <a:xfrm>
            <a:off x="502920" y="2331720"/>
            <a:ext cx="2468880" cy="1234440"/>
          </a:xfrm>
          <a:prstGeom prst="rect">
            <a:avLst/>
          </a:prstGeom>
          <a:noFill/>
          <a:ln/>
        </p:spPr>
        <p:txBody>
          <a:bodyPr wrap="square" lIns="25400" tIns="25400" rIns="25400" bIns="25400" rtlCol="0" anchor="ctr"/>
          <a:lstStyle/>
          <a:p>
            <a:pPr marL="0" indent="0" algn="ctr">
              <a:buNone/>
            </a:pPr>
            <a:r>
              <a:rPr lang="en-US" sz="1200" b="1" dirty="0">
                <a:solidFill>
                  <a:srgbClr val="10323A"/>
                </a:solidFill>
                <a:latin typeface="Calibri" pitchFamily="34" charset="0"/>
                <a:ea typeface="Calibri" pitchFamily="34" charset="-122"/>
                <a:cs typeface="Calibri" pitchFamily="34" charset="-120"/>
              </a:rPr>
              <a:t>Image + Texte</a:t>
            </a:r>
            <a:endParaRPr lang="en-US" sz="1200" dirty="0"/>
          </a:p>
          <a:p>
            <a:pPr marL="0" indent="0" algn="ctr">
              <a:buNone/>
            </a:pPr>
            <a:r>
              <a:rPr lang="en-US" sz="900" dirty="0">
                <a:solidFill>
                  <a:srgbClr val="2C4A46"/>
                </a:solidFill>
                <a:latin typeface="Calibri" pitchFamily="34" charset="0"/>
                <a:ea typeface="Calibri" pitchFamily="34" charset="-122"/>
                <a:cs typeface="Calibri" pitchFamily="34" charset="-120"/>
              </a:rPr>
              <a:t>la paire à vérifier</a:t>
            </a:r>
            <a:endParaRPr lang="en-US" sz="1200" dirty="0"/>
          </a:p>
        </p:txBody>
      </p:sp>
      <p:sp>
        <p:nvSpPr>
          <p:cNvPr id="8" name="Shape 6"/>
          <p:cNvSpPr/>
          <p:nvPr/>
        </p:nvSpPr>
        <p:spPr>
          <a:xfrm>
            <a:off x="3429000" y="2331720"/>
            <a:ext cx="2743200" cy="1234440"/>
          </a:xfrm>
          <a:prstGeom prst="roundRect">
            <a:avLst>
              <a:gd name="adj" fmla="val 5926"/>
            </a:avLst>
          </a:prstGeom>
          <a:solidFill>
            <a:srgbClr val="0E7C86"/>
          </a:solidFill>
          <a:ln w="12700">
            <a:solidFill>
              <a:srgbClr val="FFFFFF"/>
            </a:solidFill>
            <a:prstDash val="solid"/>
          </a:ln>
        </p:spPr>
        <p:txBody>
          <a:bodyPr/>
          <a:lstStyle/>
          <a:p>
            <a:endParaRPr lang="fr-FR"/>
          </a:p>
        </p:txBody>
      </p:sp>
      <p:sp>
        <p:nvSpPr>
          <p:cNvPr id="9" name="Text 7"/>
          <p:cNvSpPr txBox="1"/>
          <p:nvPr/>
        </p:nvSpPr>
        <p:spPr>
          <a:xfrm>
            <a:off x="3429000" y="2331720"/>
            <a:ext cx="2743200" cy="123444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Encodeurs BioViL-T</a:t>
            </a:r>
            <a:endParaRPr lang="en-US" sz="1200" dirty="0"/>
          </a:p>
          <a:p>
            <a:pPr marL="0" indent="0" algn="ctr">
              <a:buNone/>
            </a:pPr>
            <a:r>
              <a:rPr lang="en-US" sz="900" dirty="0">
                <a:solidFill>
                  <a:srgbClr val="CFEAEC"/>
                </a:solidFill>
                <a:latin typeface="Calibri" pitchFamily="34" charset="0"/>
                <a:ea typeface="Calibri" pitchFamily="34" charset="-122"/>
                <a:cs typeface="Calibri" pitchFamily="34" charset="-120"/>
              </a:rPr>
              <a:t>représentations vectorielles</a:t>
            </a:r>
            <a:endParaRPr lang="en-US" sz="1200" dirty="0"/>
          </a:p>
          <a:p>
            <a:pPr marL="0" indent="0" algn="ctr">
              <a:buNone/>
            </a:pPr>
            <a:r>
              <a:rPr lang="en-US" sz="900" dirty="0">
                <a:solidFill>
                  <a:srgbClr val="CFEAEC"/>
                </a:solidFill>
                <a:latin typeface="Calibri" pitchFamily="34" charset="0"/>
                <a:ea typeface="Calibri" pitchFamily="34" charset="-122"/>
                <a:cs typeface="Calibri" pitchFamily="34" charset="-120"/>
              </a:rPr>
              <a:t>de l'image et du texte</a:t>
            </a:r>
            <a:endParaRPr lang="en-US" sz="1200" dirty="0"/>
          </a:p>
        </p:txBody>
      </p:sp>
      <p:sp>
        <p:nvSpPr>
          <p:cNvPr id="10" name="Shape 8"/>
          <p:cNvSpPr/>
          <p:nvPr/>
        </p:nvSpPr>
        <p:spPr>
          <a:xfrm>
            <a:off x="6629400" y="2331720"/>
            <a:ext cx="2743200" cy="1234440"/>
          </a:xfrm>
          <a:prstGeom prst="roundRect">
            <a:avLst>
              <a:gd name="adj" fmla="val 5926"/>
            </a:avLst>
          </a:prstGeom>
          <a:solidFill>
            <a:srgbClr val="0E7C86"/>
          </a:solidFill>
          <a:ln w="12700">
            <a:solidFill>
              <a:srgbClr val="FFFFFF"/>
            </a:solidFill>
            <a:prstDash val="solid"/>
          </a:ln>
        </p:spPr>
        <p:txBody>
          <a:bodyPr/>
          <a:lstStyle/>
          <a:p>
            <a:endParaRPr lang="fr-FR"/>
          </a:p>
        </p:txBody>
      </p:sp>
      <p:sp>
        <p:nvSpPr>
          <p:cNvPr id="11" name="Text 9"/>
          <p:cNvSpPr txBox="1"/>
          <p:nvPr/>
        </p:nvSpPr>
        <p:spPr>
          <a:xfrm>
            <a:off x="6629400" y="2331720"/>
            <a:ext cx="2743200" cy="123444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Attention croisée</a:t>
            </a:r>
            <a:endParaRPr lang="en-US" sz="1200" dirty="0"/>
          </a:p>
          <a:p>
            <a:pPr marL="0" indent="0" algn="ctr">
              <a:buNone/>
            </a:pPr>
            <a:r>
              <a:rPr lang="en-US" sz="900" dirty="0">
                <a:solidFill>
                  <a:srgbClr val="CFEAEC"/>
                </a:solidFill>
                <a:latin typeface="Calibri" pitchFamily="34" charset="0"/>
                <a:ea typeface="Calibri" pitchFamily="34" charset="-122"/>
                <a:cs typeface="Calibri" pitchFamily="34" charset="-120"/>
              </a:rPr>
              <a:t>le texte interroge</a:t>
            </a:r>
            <a:endParaRPr lang="en-US" sz="1200" dirty="0"/>
          </a:p>
          <a:p>
            <a:pPr marL="0" indent="0" algn="ctr">
              <a:buNone/>
            </a:pPr>
            <a:r>
              <a:rPr lang="en-US" sz="900" dirty="0">
                <a:solidFill>
                  <a:srgbClr val="CFEAEC"/>
                </a:solidFill>
                <a:latin typeface="Calibri" pitchFamily="34" charset="0"/>
                <a:ea typeface="Calibri" pitchFamily="34" charset="-122"/>
                <a:cs typeface="Calibri" pitchFamily="34" charset="-120"/>
              </a:rPr>
              <a:t>les régions de l'image</a:t>
            </a:r>
            <a:endParaRPr lang="en-US" sz="1200" dirty="0"/>
          </a:p>
        </p:txBody>
      </p:sp>
      <p:sp>
        <p:nvSpPr>
          <p:cNvPr id="12" name="Shape 10"/>
          <p:cNvSpPr/>
          <p:nvPr/>
        </p:nvSpPr>
        <p:spPr>
          <a:xfrm>
            <a:off x="9829800" y="2331720"/>
            <a:ext cx="1828800" cy="1234440"/>
          </a:xfrm>
          <a:prstGeom prst="roundRect">
            <a:avLst>
              <a:gd name="adj" fmla="val 5926"/>
            </a:avLst>
          </a:prstGeom>
          <a:solidFill>
            <a:srgbClr val="2F8F6B"/>
          </a:solidFill>
          <a:ln w="12700">
            <a:solidFill>
              <a:srgbClr val="EAF6F4"/>
            </a:solidFill>
            <a:prstDash val="solid"/>
          </a:ln>
        </p:spPr>
        <p:txBody>
          <a:bodyPr/>
          <a:lstStyle/>
          <a:p>
            <a:endParaRPr lang="fr-FR"/>
          </a:p>
        </p:txBody>
      </p:sp>
      <p:sp>
        <p:nvSpPr>
          <p:cNvPr id="13" name="Text 11"/>
          <p:cNvSpPr txBox="1"/>
          <p:nvPr/>
        </p:nvSpPr>
        <p:spPr>
          <a:xfrm>
            <a:off x="9829800" y="2331720"/>
            <a:ext cx="1828800" cy="1234440"/>
          </a:xfrm>
          <a:prstGeom prst="rect">
            <a:avLst/>
          </a:prstGeom>
          <a:noFill/>
          <a:ln/>
        </p:spPr>
        <p:txBody>
          <a:bodyPr wrap="square" lIns="25400" tIns="25400" rIns="25400" bIns="25400" rtlCol="0" anchor="ctr"/>
          <a:lstStyle/>
          <a:p>
            <a:pPr marL="0" indent="0" algn="ctr">
              <a:buNone/>
            </a:pPr>
            <a:r>
              <a:rPr lang="en-US" sz="1200" b="1" dirty="0">
                <a:solidFill>
                  <a:srgbClr val="10323A"/>
                </a:solidFill>
                <a:latin typeface="Calibri" pitchFamily="34" charset="0"/>
                <a:ea typeface="Calibri" pitchFamily="34" charset="-122"/>
                <a:cs typeface="Calibri" pitchFamily="34" charset="-120"/>
              </a:rPr>
              <a:t>Sortie</a:t>
            </a:r>
            <a:endParaRPr lang="en-US" sz="1200" dirty="0"/>
          </a:p>
          <a:p>
            <a:pPr marL="0" indent="0" algn="ctr">
              <a:buNone/>
            </a:pPr>
            <a:r>
              <a:rPr lang="en-US" sz="900" dirty="0">
                <a:solidFill>
                  <a:srgbClr val="2C4A46"/>
                </a:solidFill>
                <a:latin typeface="Calibri" pitchFamily="34" charset="0"/>
                <a:ea typeface="Calibri" pitchFamily="34" charset="-122"/>
                <a:cs typeface="Calibri" pitchFamily="34" charset="-120"/>
              </a:rPr>
              <a:t>probabilité et</a:t>
            </a:r>
            <a:endParaRPr lang="en-US" sz="1200" dirty="0"/>
          </a:p>
          <a:p>
            <a:pPr marL="0" indent="0" algn="ctr">
              <a:buNone/>
            </a:pPr>
            <a:r>
              <a:rPr lang="en-US" sz="900" dirty="0">
                <a:solidFill>
                  <a:srgbClr val="2C4A46"/>
                </a:solidFill>
                <a:latin typeface="Calibri" pitchFamily="34" charset="0"/>
                <a:ea typeface="Calibri" pitchFamily="34" charset="-122"/>
                <a:cs typeface="Calibri" pitchFamily="34" charset="-120"/>
              </a:rPr>
              <a:t>seuil de décision 0,5</a:t>
            </a:r>
            <a:endParaRPr lang="en-US" sz="1200" dirty="0"/>
          </a:p>
        </p:txBody>
      </p:sp>
      <p:sp>
        <p:nvSpPr>
          <p:cNvPr id="14" name="Shape 12"/>
          <p:cNvSpPr/>
          <p:nvPr/>
        </p:nvSpPr>
        <p:spPr>
          <a:xfrm>
            <a:off x="2971800" y="2948940"/>
            <a:ext cx="457200" cy="0"/>
          </a:xfrm>
          <a:prstGeom prst="line">
            <a:avLst/>
          </a:prstGeom>
          <a:noFill/>
          <a:ln w="22225">
            <a:solidFill>
              <a:srgbClr val="0E7C86"/>
            </a:solidFill>
            <a:prstDash val="solid"/>
            <a:tailEnd type="triangle"/>
          </a:ln>
        </p:spPr>
        <p:txBody>
          <a:bodyPr/>
          <a:lstStyle/>
          <a:p>
            <a:endParaRPr lang="fr-FR"/>
          </a:p>
        </p:txBody>
      </p:sp>
      <p:sp>
        <p:nvSpPr>
          <p:cNvPr id="15" name="Shape 13"/>
          <p:cNvSpPr/>
          <p:nvPr/>
        </p:nvSpPr>
        <p:spPr>
          <a:xfrm>
            <a:off x="6172200" y="2948940"/>
            <a:ext cx="457200" cy="0"/>
          </a:xfrm>
          <a:prstGeom prst="line">
            <a:avLst/>
          </a:prstGeom>
          <a:noFill/>
          <a:ln w="22225">
            <a:solidFill>
              <a:srgbClr val="0E7C86"/>
            </a:solidFill>
            <a:prstDash val="solid"/>
            <a:tailEnd type="triangle"/>
          </a:ln>
        </p:spPr>
        <p:txBody>
          <a:bodyPr/>
          <a:lstStyle/>
          <a:p>
            <a:endParaRPr lang="fr-FR"/>
          </a:p>
        </p:txBody>
      </p:sp>
      <p:sp>
        <p:nvSpPr>
          <p:cNvPr id="16" name="Shape 14"/>
          <p:cNvSpPr/>
          <p:nvPr/>
        </p:nvSpPr>
        <p:spPr>
          <a:xfrm>
            <a:off x="9372600" y="2948940"/>
            <a:ext cx="457200" cy="0"/>
          </a:xfrm>
          <a:prstGeom prst="line">
            <a:avLst/>
          </a:prstGeom>
          <a:noFill/>
          <a:ln w="22225">
            <a:solidFill>
              <a:srgbClr val="0E7C86"/>
            </a:solidFill>
            <a:prstDash val="solid"/>
            <a:tailEnd type="triangle"/>
          </a:ln>
        </p:spPr>
        <p:txBody>
          <a:bodyPr/>
          <a:lstStyle/>
          <a:p>
            <a:endParaRPr lang="fr-FR"/>
          </a:p>
        </p:txBody>
      </p:sp>
      <p:sp>
        <p:nvSpPr>
          <p:cNvPr id="17" name="Text 15"/>
          <p:cNvSpPr txBox="1"/>
          <p:nvPr/>
        </p:nvSpPr>
        <p:spPr>
          <a:xfrm>
            <a:off x="502920" y="4114800"/>
            <a:ext cx="11155680" cy="1828800"/>
          </a:xfrm>
          <a:prstGeom prst="rect">
            <a:avLst/>
          </a:prstGeom>
          <a:noFill/>
          <a:ln/>
        </p:spPr>
        <p:txBody>
          <a:bodyPr wrap="square" rtlCol="0" anchor="t"/>
          <a:lstStyle/>
          <a:p>
            <a:pPr marL="0" indent="0">
              <a:lnSpc>
                <a:spcPct val="115000"/>
              </a:lnSpc>
              <a:spcAft>
                <a:spcPts val="600"/>
              </a:spcAft>
              <a:buNone/>
            </a:pPr>
            <a:r>
              <a:rPr lang="en-US" sz="1400" b="1" dirty="0">
                <a:solidFill>
                  <a:srgbClr val="0E7C86"/>
                </a:solidFill>
                <a:latin typeface="Calibri" pitchFamily="34" charset="0"/>
                <a:ea typeface="Calibri" pitchFamily="34" charset="-122"/>
                <a:cs typeface="Calibri" pitchFamily="34" charset="-120"/>
              </a:rPr>
              <a:t>Caractéristiques techniques</a:t>
            </a:r>
            <a:endParaRPr lang="en-US" sz="1400" dirty="0"/>
          </a:p>
          <a:p>
            <a:pPr marL="342900" indent="-342900">
              <a:lnSpc>
                <a:spcPct val="115000"/>
              </a:lnSpc>
              <a:spcAft>
                <a:spcPts val="400"/>
              </a:spcAft>
              <a:buSzPct val="100000"/>
              <a:buChar char="•"/>
            </a:pPr>
            <a:r>
              <a:rPr lang="en-US" sz="1300" dirty="0">
                <a:solidFill>
                  <a:srgbClr val="10323A"/>
                </a:solidFill>
                <a:latin typeface="Calibri" pitchFamily="34" charset="0"/>
                <a:ea typeface="Calibri" pitchFamily="34" charset="-122"/>
                <a:cs typeface="Calibri" pitchFamily="34" charset="-120"/>
              </a:rPr>
              <a:t>Jeu d'entraînement : 20 000 paires équilibrées (10 000 cohérentes, 10 000 incohérentes) issues de CheXpert.</a:t>
            </a:r>
            <a:endParaRPr lang="en-US" sz="1400" dirty="0"/>
          </a:p>
          <a:p>
            <a:pPr marL="342900" indent="-342900">
              <a:lnSpc>
                <a:spcPct val="115000"/>
              </a:lnSpc>
              <a:spcAft>
                <a:spcPts val="400"/>
              </a:spcAft>
              <a:buSzPct val="100000"/>
              <a:buChar char="•"/>
            </a:pPr>
            <a:r>
              <a:rPr lang="en-US" sz="1300" dirty="0">
                <a:solidFill>
                  <a:srgbClr val="10323A"/>
                </a:solidFill>
                <a:latin typeface="Calibri" pitchFamily="34" charset="0"/>
                <a:ea typeface="Calibri" pitchFamily="34" charset="-122"/>
                <a:cs typeface="Calibri" pitchFamily="34" charset="-120"/>
              </a:rPr>
              <a:t>Optimiseur AdamW, perte BCE, arrêt anticipé ; réglages repris du notebook d'origine (lot 64, 100 époques maximum).</a:t>
            </a:r>
            <a:endParaRPr lang="en-US" sz="1400" dirty="0"/>
          </a:p>
          <a:p>
            <a:pPr marL="342900" indent="-342900">
              <a:lnSpc>
                <a:spcPct val="115000"/>
              </a:lnSpc>
              <a:buSzPct val="100000"/>
              <a:buChar char="•"/>
            </a:pPr>
            <a:r>
              <a:rPr lang="en-US" sz="1300" dirty="0">
                <a:solidFill>
                  <a:srgbClr val="10323A"/>
                </a:solidFill>
                <a:latin typeface="Calibri" pitchFamily="34" charset="0"/>
                <a:ea typeface="Calibri" pitchFamily="34" charset="-122"/>
                <a:cs typeface="Calibri" pitchFamily="34" charset="-120"/>
              </a:rPr>
              <a:t>Performance obtenue : environ 89 % d'exactitude de validation.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11155680" cy="64008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Architecture de la chaîne MLOps</a:t>
            </a:r>
            <a:endParaRPr lang="en-US" sz="3000" dirty="0"/>
          </a:p>
        </p:txBody>
      </p:sp>
      <p:sp>
        <p:nvSpPr>
          <p:cNvPr id="3" name="Text 1"/>
          <p:cNvSpPr txBox="1"/>
          <p:nvPr/>
        </p:nvSpPr>
        <p:spPr>
          <a:xfrm>
            <a:off x="502920" y="6419088"/>
            <a:ext cx="7315200" cy="32004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Auditeur de Cohérence Médicale</a:t>
            </a:r>
            <a:endParaRPr lang="en-US" sz="900" dirty="0"/>
          </a:p>
        </p:txBody>
      </p:sp>
      <p:sp>
        <p:nvSpPr>
          <p:cNvPr id="4" name="Text 2"/>
          <p:cNvSpPr txBox="1"/>
          <p:nvPr/>
        </p:nvSpPr>
        <p:spPr>
          <a:xfrm>
            <a:off x="11338560" y="6419088"/>
            <a:ext cx="365760" cy="320040"/>
          </a:xfrm>
          <a:prstGeom prst="rect">
            <a:avLst/>
          </a:prstGeom>
          <a:noFill/>
          <a:ln/>
        </p:spPr>
        <p:txBody>
          <a:bodyPr wrap="square" lIns="0" tIns="0" rIns="0" bIns="0" rtlCol="0" anchor="ctr"/>
          <a:lstStyle/>
          <a:p>
            <a:pPr marL="0" indent="0" algn="r">
              <a:buNone/>
            </a:pPr>
            <a:r>
              <a:rPr lang="en-US" sz="900" dirty="0">
                <a:solidFill>
                  <a:srgbClr val="55686E"/>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365760" y="1234440"/>
            <a:ext cx="2514600" cy="2286000"/>
          </a:xfrm>
          <a:prstGeom prst="roundRect">
            <a:avLst>
              <a:gd name="adj" fmla="val 2400"/>
            </a:avLst>
          </a:prstGeom>
          <a:solidFill>
            <a:srgbClr val="F0F8F6"/>
          </a:solidFill>
          <a:ln w="12700">
            <a:solidFill>
              <a:srgbClr val="2F8F6B"/>
            </a:solidFill>
            <a:prstDash val="dash"/>
          </a:ln>
        </p:spPr>
        <p:txBody>
          <a:bodyPr/>
          <a:lstStyle/>
          <a:p>
            <a:endParaRPr lang="fr-FR"/>
          </a:p>
        </p:txBody>
      </p:sp>
      <p:sp>
        <p:nvSpPr>
          <p:cNvPr id="6" name="Text 4"/>
          <p:cNvSpPr txBox="1"/>
          <p:nvPr/>
        </p:nvSpPr>
        <p:spPr>
          <a:xfrm>
            <a:off x="365760" y="1298448"/>
            <a:ext cx="2514600" cy="320040"/>
          </a:xfrm>
          <a:prstGeom prst="rect">
            <a:avLst/>
          </a:prstGeom>
          <a:noFill/>
          <a:ln/>
        </p:spPr>
        <p:txBody>
          <a:bodyPr wrap="square" lIns="0" tIns="0" rIns="0" bIns="0" rtlCol="0" anchor="ctr"/>
          <a:lstStyle/>
          <a:p>
            <a:pPr marL="0" indent="0" algn="ctr">
              <a:buNone/>
            </a:pPr>
            <a:r>
              <a:rPr lang="en-US" sz="1100" b="1" dirty="0">
                <a:solidFill>
                  <a:srgbClr val="2F8F6B"/>
                </a:solidFill>
                <a:latin typeface="Calibri" pitchFamily="34" charset="0"/>
                <a:ea typeface="Calibri" pitchFamily="34" charset="-122"/>
                <a:cs typeface="Calibri" pitchFamily="34" charset="-120"/>
              </a:rPr>
              <a:t>Démonstration</a:t>
            </a:r>
            <a:endParaRPr lang="en-US" sz="1100" dirty="0"/>
          </a:p>
        </p:txBody>
      </p:sp>
      <p:sp>
        <p:nvSpPr>
          <p:cNvPr id="7" name="Shape 5"/>
          <p:cNvSpPr/>
          <p:nvPr/>
        </p:nvSpPr>
        <p:spPr>
          <a:xfrm>
            <a:off x="3200400" y="1097280"/>
            <a:ext cx="8595360" cy="4297680"/>
          </a:xfrm>
          <a:prstGeom prst="roundRect">
            <a:avLst>
              <a:gd name="adj" fmla="val 1277"/>
            </a:avLst>
          </a:prstGeom>
          <a:solidFill>
            <a:srgbClr val="EEF6F6"/>
          </a:solidFill>
          <a:ln w="12700">
            <a:solidFill>
              <a:srgbClr val="0E7C86"/>
            </a:solidFill>
            <a:prstDash val="dash"/>
          </a:ln>
        </p:spPr>
        <p:txBody>
          <a:bodyPr/>
          <a:lstStyle/>
          <a:p>
            <a:endParaRPr lang="fr-FR"/>
          </a:p>
        </p:txBody>
      </p:sp>
      <p:sp>
        <p:nvSpPr>
          <p:cNvPr id="8" name="Text 6"/>
          <p:cNvSpPr txBox="1"/>
          <p:nvPr/>
        </p:nvSpPr>
        <p:spPr>
          <a:xfrm>
            <a:off x="3200400" y="1161288"/>
            <a:ext cx="8595360" cy="320040"/>
          </a:xfrm>
          <a:prstGeom prst="rect">
            <a:avLst/>
          </a:prstGeom>
          <a:noFill/>
          <a:ln/>
        </p:spPr>
        <p:txBody>
          <a:bodyPr wrap="square" lIns="0" tIns="0" rIns="0" bIns="0" rtlCol="0" anchor="ctr"/>
          <a:lstStyle/>
          <a:p>
            <a:pPr marL="0" indent="0" algn="ctr">
              <a:buNone/>
            </a:pPr>
            <a:r>
              <a:rPr lang="en-US" sz="1100" b="1" dirty="0">
                <a:solidFill>
                  <a:srgbClr val="0B4F5C"/>
                </a:solidFill>
                <a:latin typeface="Calibri" pitchFamily="34" charset="0"/>
                <a:ea typeface="Calibri" pitchFamily="34" charset="-122"/>
                <a:cs typeface="Calibri" pitchFamily="34" charset="-120"/>
              </a:rPr>
              <a:t>Boucle de production automatisée</a:t>
            </a:r>
            <a:endParaRPr lang="en-US" sz="1100" dirty="0"/>
          </a:p>
        </p:txBody>
      </p:sp>
      <p:sp>
        <p:nvSpPr>
          <p:cNvPr id="9" name="Shape 7"/>
          <p:cNvSpPr/>
          <p:nvPr/>
        </p:nvSpPr>
        <p:spPr>
          <a:xfrm>
            <a:off x="594360" y="1783080"/>
            <a:ext cx="2011680" cy="960120"/>
          </a:xfrm>
          <a:prstGeom prst="roundRect">
            <a:avLst>
              <a:gd name="adj" fmla="val 7619"/>
            </a:avLst>
          </a:prstGeom>
          <a:solidFill>
            <a:srgbClr val="2F8F6B"/>
          </a:solidFill>
          <a:ln w="12700">
            <a:solidFill>
              <a:srgbClr val="FFFFFF"/>
            </a:solidFill>
            <a:prstDash val="solid"/>
          </a:ln>
        </p:spPr>
        <p:txBody>
          <a:bodyPr/>
          <a:lstStyle/>
          <a:p>
            <a:endParaRPr lang="fr-FR"/>
          </a:p>
        </p:txBody>
      </p:sp>
      <p:sp>
        <p:nvSpPr>
          <p:cNvPr id="10" name="Text 8"/>
          <p:cNvSpPr txBox="1"/>
          <p:nvPr/>
        </p:nvSpPr>
        <p:spPr>
          <a:xfrm>
            <a:off x="594360" y="1783080"/>
            <a:ext cx="2011680" cy="96012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Application Gradio</a:t>
            </a:r>
            <a:endParaRPr lang="en-US" sz="1200" dirty="0"/>
          </a:p>
          <a:p>
            <a:pPr marL="0" indent="0" algn="ctr">
              <a:buNone/>
            </a:pPr>
            <a:r>
              <a:rPr lang="en-US" sz="900" dirty="0">
                <a:solidFill>
                  <a:srgbClr val="DFF0EA"/>
                </a:solidFill>
                <a:latin typeface="Calibri" pitchFamily="34" charset="0"/>
                <a:ea typeface="Calibri" pitchFamily="34" charset="-122"/>
                <a:cs typeface="Calibri" pitchFamily="34" charset="-120"/>
              </a:rPr>
              <a:t>modèle embarqué</a:t>
            </a:r>
            <a:endParaRPr lang="en-US" sz="1200" dirty="0"/>
          </a:p>
        </p:txBody>
      </p:sp>
      <p:sp>
        <p:nvSpPr>
          <p:cNvPr id="11" name="Shape 9"/>
          <p:cNvSpPr/>
          <p:nvPr/>
        </p:nvSpPr>
        <p:spPr>
          <a:xfrm>
            <a:off x="3657600" y="1783080"/>
            <a:ext cx="2468880" cy="960120"/>
          </a:xfrm>
          <a:prstGeom prst="roundRect">
            <a:avLst>
              <a:gd name="adj" fmla="val 7619"/>
            </a:avLst>
          </a:prstGeom>
          <a:solidFill>
            <a:srgbClr val="C98A1F"/>
          </a:solidFill>
          <a:ln w="12700">
            <a:solidFill>
              <a:srgbClr val="FFFFFF"/>
            </a:solidFill>
            <a:prstDash val="solid"/>
          </a:ln>
        </p:spPr>
        <p:txBody>
          <a:bodyPr/>
          <a:lstStyle/>
          <a:p>
            <a:endParaRPr lang="fr-FR"/>
          </a:p>
        </p:txBody>
      </p:sp>
      <p:sp>
        <p:nvSpPr>
          <p:cNvPr id="12" name="Text 10"/>
          <p:cNvSpPr txBox="1"/>
          <p:nvPr/>
        </p:nvSpPr>
        <p:spPr>
          <a:xfrm>
            <a:off x="3657600" y="1783080"/>
            <a:ext cx="2468880" cy="96012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Datalake Azure</a:t>
            </a:r>
            <a:endParaRPr lang="en-US" sz="1200" dirty="0"/>
          </a:p>
          <a:p>
            <a:pPr marL="0" indent="0" algn="ctr">
              <a:buNone/>
            </a:pPr>
            <a:r>
              <a:rPr lang="en-US" sz="900" dirty="0">
                <a:solidFill>
                  <a:srgbClr val="F7ECD6"/>
                </a:solidFill>
                <a:latin typeface="Calibri" pitchFamily="34" charset="0"/>
                <a:ea typeface="Calibri" pitchFamily="34" charset="-122"/>
                <a:cs typeface="Calibri" pitchFamily="34" charset="-120"/>
              </a:rPr>
              <a:t>prédictions, embeddings</a:t>
            </a:r>
            <a:endParaRPr lang="en-US" sz="1200" dirty="0"/>
          </a:p>
        </p:txBody>
      </p:sp>
      <p:sp>
        <p:nvSpPr>
          <p:cNvPr id="13" name="Shape 11"/>
          <p:cNvSpPr/>
          <p:nvPr/>
        </p:nvSpPr>
        <p:spPr>
          <a:xfrm>
            <a:off x="9052560" y="1783080"/>
            <a:ext cx="2468880" cy="960120"/>
          </a:xfrm>
          <a:prstGeom prst="roundRect">
            <a:avLst>
              <a:gd name="adj" fmla="val 7619"/>
            </a:avLst>
          </a:prstGeom>
          <a:solidFill>
            <a:srgbClr val="0E7C86"/>
          </a:solidFill>
          <a:ln w="12700">
            <a:solidFill>
              <a:srgbClr val="FFFFFF"/>
            </a:solidFill>
            <a:prstDash val="solid"/>
          </a:ln>
        </p:spPr>
        <p:txBody>
          <a:bodyPr/>
          <a:lstStyle/>
          <a:p>
            <a:endParaRPr lang="fr-FR"/>
          </a:p>
        </p:txBody>
      </p:sp>
      <p:sp>
        <p:nvSpPr>
          <p:cNvPr id="14" name="Text 12"/>
          <p:cNvSpPr txBox="1"/>
          <p:nvPr/>
        </p:nvSpPr>
        <p:spPr>
          <a:xfrm>
            <a:off x="9052560" y="1783080"/>
            <a:ext cx="2468880" cy="96012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Monitoring</a:t>
            </a:r>
            <a:endParaRPr lang="en-US" sz="1200" dirty="0"/>
          </a:p>
          <a:p>
            <a:pPr marL="0" indent="0" algn="ctr">
              <a:buNone/>
            </a:pPr>
            <a:r>
              <a:rPr lang="en-US" sz="900" dirty="0">
                <a:solidFill>
                  <a:srgbClr val="CFEAEC"/>
                </a:solidFill>
                <a:latin typeface="Calibri" pitchFamily="34" charset="0"/>
                <a:ea typeface="Calibri" pitchFamily="34" charset="-122"/>
                <a:cs typeface="Calibri" pitchFamily="34" charset="-120"/>
              </a:rPr>
              <a:t>Evidently, dérive</a:t>
            </a:r>
            <a:endParaRPr lang="en-US" sz="1200" dirty="0"/>
          </a:p>
        </p:txBody>
      </p:sp>
      <p:sp>
        <p:nvSpPr>
          <p:cNvPr id="15" name="Shape 13"/>
          <p:cNvSpPr/>
          <p:nvPr/>
        </p:nvSpPr>
        <p:spPr>
          <a:xfrm>
            <a:off x="9052560" y="4206240"/>
            <a:ext cx="2468880" cy="960120"/>
          </a:xfrm>
          <a:prstGeom prst="roundRect">
            <a:avLst>
              <a:gd name="adj" fmla="val 7619"/>
            </a:avLst>
          </a:prstGeom>
          <a:solidFill>
            <a:srgbClr val="6B46C1"/>
          </a:solidFill>
          <a:ln w="12700">
            <a:solidFill>
              <a:srgbClr val="FFFFFF"/>
            </a:solidFill>
            <a:prstDash val="solid"/>
          </a:ln>
        </p:spPr>
        <p:txBody>
          <a:bodyPr/>
          <a:lstStyle/>
          <a:p>
            <a:endParaRPr lang="fr-FR"/>
          </a:p>
        </p:txBody>
      </p:sp>
      <p:sp>
        <p:nvSpPr>
          <p:cNvPr id="16" name="Text 14"/>
          <p:cNvSpPr txBox="1"/>
          <p:nvPr/>
        </p:nvSpPr>
        <p:spPr>
          <a:xfrm>
            <a:off x="9052560" y="4206240"/>
            <a:ext cx="2468880" cy="96012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Réentraînement</a:t>
            </a:r>
            <a:endParaRPr lang="en-US" sz="1200" dirty="0"/>
          </a:p>
          <a:p>
            <a:pPr marL="0" indent="0" algn="ctr">
              <a:buNone/>
            </a:pPr>
            <a:r>
              <a:rPr lang="en-US" sz="900" dirty="0">
                <a:solidFill>
                  <a:srgbClr val="E4DAF7"/>
                </a:solidFill>
                <a:latin typeface="Calibri" pitchFamily="34" charset="0"/>
                <a:ea typeface="Calibri" pitchFamily="34" charset="-122"/>
                <a:cs typeface="Calibri" pitchFamily="34" charset="-120"/>
              </a:rPr>
              <a:t>Kaggle, calcul GPU</a:t>
            </a:r>
            <a:endParaRPr lang="en-US" sz="1200" dirty="0"/>
          </a:p>
        </p:txBody>
      </p:sp>
      <p:sp>
        <p:nvSpPr>
          <p:cNvPr id="17" name="Shape 15"/>
          <p:cNvSpPr/>
          <p:nvPr/>
        </p:nvSpPr>
        <p:spPr>
          <a:xfrm>
            <a:off x="6400800" y="4206240"/>
            <a:ext cx="2194560" cy="960120"/>
          </a:xfrm>
          <a:prstGeom prst="roundRect">
            <a:avLst>
              <a:gd name="adj" fmla="val 7619"/>
            </a:avLst>
          </a:prstGeom>
          <a:solidFill>
            <a:srgbClr val="2F8F6B"/>
          </a:solidFill>
          <a:ln w="12700">
            <a:solidFill>
              <a:srgbClr val="FFFFFF"/>
            </a:solidFill>
            <a:prstDash val="solid"/>
          </a:ln>
        </p:spPr>
        <p:txBody>
          <a:bodyPr/>
          <a:lstStyle/>
          <a:p>
            <a:endParaRPr lang="fr-FR"/>
          </a:p>
        </p:txBody>
      </p:sp>
      <p:sp>
        <p:nvSpPr>
          <p:cNvPr id="18" name="Text 16"/>
          <p:cNvSpPr txBox="1"/>
          <p:nvPr/>
        </p:nvSpPr>
        <p:spPr>
          <a:xfrm>
            <a:off x="6400800" y="4206240"/>
            <a:ext cx="2194560" cy="96012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MLflow</a:t>
            </a:r>
            <a:endParaRPr lang="en-US" sz="1200" dirty="0"/>
          </a:p>
          <a:p>
            <a:pPr marL="0" indent="0" algn="ctr">
              <a:buNone/>
            </a:pPr>
            <a:r>
              <a:rPr lang="en-US" sz="900" dirty="0">
                <a:solidFill>
                  <a:srgbClr val="DFF0EA"/>
                </a:solidFill>
                <a:latin typeface="Calibri" pitchFamily="34" charset="0"/>
                <a:ea typeface="Calibri" pitchFamily="34" charset="-122"/>
                <a:cs typeface="Calibri" pitchFamily="34" charset="-120"/>
              </a:rPr>
              <a:t>registre, alias prod</a:t>
            </a:r>
            <a:endParaRPr lang="en-US" sz="1200" dirty="0"/>
          </a:p>
        </p:txBody>
      </p:sp>
      <p:sp>
        <p:nvSpPr>
          <p:cNvPr id="19" name="Shape 17"/>
          <p:cNvSpPr/>
          <p:nvPr/>
        </p:nvSpPr>
        <p:spPr>
          <a:xfrm>
            <a:off x="3657600" y="4206240"/>
            <a:ext cx="2468880" cy="960120"/>
          </a:xfrm>
          <a:prstGeom prst="roundRect">
            <a:avLst>
              <a:gd name="adj" fmla="val 7619"/>
            </a:avLst>
          </a:prstGeom>
          <a:solidFill>
            <a:srgbClr val="0E7C86"/>
          </a:solidFill>
          <a:ln w="12700">
            <a:solidFill>
              <a:srgbClr val="FFFFFF"/>
            </a:solidFill>
            <a:prstDash val="solid"/>
          </a:ln>
        </p:spPr>
        <p:txBody>
          <a:bodyPr/>
          <a:lstStyle/>
          <a:p>
            <a:endParaRPr lang="fr-FR"/>
          </a:p>
        </p:txBody>
      </p:sp>
      <p:sp>
        <p:nvSpPr>
          <p:cNvPr id="20" name="Text 18"/>
          <p:cNvSpPr txBox="1"/>
          <p:nvPr/>
        </p:nvSpPr>
        <p:spPr>
          <a:xfrm>
            <a:off x="3657600" y="4206240"/>
            <a:ext cx="2468880" cy="96012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API FastAPI</a:t>
            </a:r>
            <a:endParaRPr lang="en-US" sz="1200" dirty="0"/>
          </a:p>
          <a:p>
            <a:pPr marL="0" indent="0" algn="ctr">
              <a:buNone/>
            </a:pPr>
            <a:r>
              <a:rPr lang="en-US" sz="900" dirty="0">
                <a:solidFill>
                  <a:srgbClr val="CFEAEC"/>
                </a:solidFill>
                <a:latin typeface="Calibri" pitchFamily="34" charset="0"/>
                <a:ea typeface="Calibri" pitchFamily="34" charset="-122"/>
                <a:cs typeface="Calibri" pitchFamily="34" charset="-120"/>
              </a:rPr>
              <a:t>charge le modèle prod</a:t>
            </a:r>
            <a:endParaRPr lang="en-US" sz="1200" dirty="0"/>
          </a:p>
        </p:txBody>
      </p:sp>
      <p:sp>
        <p:nvSpPr>
          <p:cNvPr id="21" name="Shape 19"/>
          <p:cNvSpPr/>
          <p:nvPr/>
        </p:nvSpPr>
        <p:spPr>
          <a:xfrm>
            <a:off x="2697480" y="2258568"/>
            <a:ext cx="960120" cy="0"/>
          </a:xfrm>
          <a:prstGeom prst="line">
            <a:avLst/>
          </a:prstGeom>
          <a:noFill/>
          <a:ln w="22225">
            <a:solidFill>
              <a:srgbClr val="0E7C86"/>
            </a:solidFill>
            <a:prstDash val="solid"/>
            <a:tailEnd type="triangle"/>
          </a:ln>
        </p:spPr>
        <p:txBody>
          <a:bodyPr/>
          <a:lstStyle/>
          <a:p>
            <a:endParaRPr lang="fr-FR"/>
          </a:p>
        </p:txBody>
      </p:sp>
      <p:sp>
        <p:nvSpPr>
          <p:cNvPr id="22" name="Text 20"/>
          <p:cNvSpPr txBox="1"/>
          <p:nvPr/>
        </p:nvSpPr>
        <p:spPr>
          <a:xfrm>
            <a:off x="2331720" y="1463040"/>
            <a:ext cx="1737360" cy="274320"/>
          </a:xfrm>
          <a:prstGeom prst="rect">
            <a:avLst/>
          </a:prstGeom>
          <a:noFill/>
          <a:ln/>
        </p:spPr>
        <p:txBody>
          <a:bodyPr wrap="square" lIns="0" tIns="0" rIns="0" bIns="0" rtlCol="0" anchor="ctr"/>
          <a:lstStyle/>
          <a:p>
            <a:pPr marL="0" indent="0" algn="ctr">
              <a:buNone/>
            </a:pPr>
            <a:r>
              <a:rPr lang="en-US" sz="900" dirty="0">
                <a:solidFill>
                  <a:srgbClr val="2F8F6B"/>
                </a:solidFill>
                <a:latin typeface="Calibri" pitchFamily="34" charset="0"/>
                <a:ea typeface="Calibri" pitchFamily="34" charset="-122"/>
                <a:cs typeface="Calibri" pitchFamily="34" charset="-120"/>
              </a:rPr>
              <a:t>journalise</a:t>
            </a:r>
            <a:endParaRPr lang="en-US" sz="900" dirty="0"/>
          </a:p>
        </p:txBody>
      </p:sp>
      <p:sp>
        <p:nvSpPr>
          <p:cNvPr id="23" name="Shape 21"/>
          <p:cNvSpPr/>
          <p:nvPr/>
        </p:nvSpPr>
        <p:spPr>
          <a:xfrm>
            <a:off x="6126480" y="2258568"/>
            <a:ext cx="2926080" cy="0"/>
          </a:xfrm>
          <a:prstGeom prst="line">
            <a:avLst/>
          </a:prstGeom>
          <a:noFill/>
          <a:ln w="22225">
            <a:solidFill>
              <a:srgbClr val="0E7C86"/>
            </a:solidFill>
            <a:prstDash val="solid"/>
            <a:tailEnd type="triangle"/>
          </a:ln>
        </p:spPr>
        <p:txBody>
          <a:bodyPr/>
          <a:lstStyle/>
          <a:p>
            <a:endParaRPr lang="fr-FR"/>
          </a:p>
        </p:txBody>
      </p:sp>
      <p:sp>
        <p:nvSpPr>
          <p:cNvPr id="24" name="Shape 22"/>
          <p:cNvSpPr/>
          <p:nvPr/>
        </p:nvSpPr>
        <p:spPr>
          <a:xfrm>
            <a:off x="10287000" y="2743200"/>
            <a:ext cx="0" cy="1463040"/>
          </a:xfrm>
          <a:prstGeom prst="line">
            <a:avLst/>
          </a:prstGeom>
          <a:noFill/>
          <a:ln w="22225">
            <a:solidFill>
              <a:srgbClr val="0E7C86"/>
            </a:solidFill>
            <a:prstDash val="solid"/>
            <a:tailEnd type="triangle"/>
          </a:ln>
        </p:spPr>
        <p:txBody>
          <a:bodyPr/>
          <a:lstStyle/>
          <a:p>
            <a:endParaRPr lang="fr-FR"/>
          </a:p>
        </p:txBody>
      </p:sp>
      <p:sp>
        <p:nvSpPr>
          <p:cNvPr id="25" name="Text 23"/>
          <p:cNvSpPr txBox="1"/>
          <p:nvPr/>
        </p:nvSpPr>
        <p:spPr>
          <a:xfrm>
            <a:off x="10378440" y="3291840"/>
            <a:ext cx="1188720" cy="27432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si dérive</a:t>
            </a:r>
            <a:endParaRPr lang="en-US" sz="900" dirty="0"/>
          </a:p>
        </p:txBody>
      </p:sp>
      <p:sp>
        <p:nvSpPr>
          <p:cNvPr id="26" name="Shape 24"/>
          <p:cNvSpPr/>
          <p:nvPr/>
        </p:nvSpPr>
        <p:spPr>
          <a:xfrm>
            <a:off x="8595360" y="4681728"/>
            <a:ext cx="457200" cy="0"/>
          </a:xfrm>
          <a:prstGeom prst="line">
            <a:avLst/>
          </a:prstGeom>
          <a:noFill/>
          <a:ln w="22225">
            <a:solidFill>
              <a:srgbClr val="0E7C86"/>
            </a:solidFill>
            <a:prstDash val="solid"/>
            <a:headEnd type="triangle"/>
          </a:ln>
        </p:spPr>
        <p:txBody>
          <a:bodyPr/>
          <a:lstStyle/>
          <a:p>
            <a:endParaRPr lang="fr-FR"/>
          </a:p>
        </p:txBody>
      </p:sp>
      <p:sp>
        <p:nvSpPr>
          <p:cNvPr id="27" name="Shape 25"/>
          <p:cNvSpPr/>
          <p:nvPr/>
        </p:nvSpPr>
        <p:spPr>
          <a:xfrm>
            <a:off x="6126480" y="4681728"/>
            <a:ext cx="274320" cy="0"/>
          </a:xfrm>
          <a:prstGeom prst="line">
            <a:avLst/>
          </a:prstGeom>
          <a:noFill/>
          <a:ln w="22225">
            <a:solidFill>
              <a:srgbClr val="0E7C86"/>
            </a:solidFill>
            <a:prstDash val="solid"/>
            <a:headEnd type="triangle"/>
          </a:ln>
        </p:spPr>
        <p:txBody>
          <a:bodyPr/>
          <a:lstStyle/>
          <a:p>
            <a:endParaRPr lang="fr-FR"/>
          </a:p>
        </p:txBody>
      </p:sp>
      <p:sp>
        <p:nvSpPr>
          <p:cNvPr id="28" name="Text 26"/>
          <p:cNvSpPr txBox="1"/>
          <p:nvPr/>
        </p:nvSpPr>
        <p:spPr>
          <a:xfrm>
            <a:off x="5943600" y="3886200"/>
            <a:ext cx="1463040" cy="27432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promotion</a:t>
            </a:r>
            <a:endParaRPr lang="en-US" sz="900" dirty="0"/>
          </a:p>
        </p:txBody>
      </p:sp>
      <p:sp>
        <p:nvSpPr>
          <p:cNvPr id="29" name="Text 27"/>
          <p:cNvSpPr txBox="1"/>
          <p:nvPr/>
        </p:nvSpPr>
        <p:spPr>
          <a:xfrm>
            <a:off x="502920" y="5623560"/>
            <a:ext cx="11155680" cy="548640"/>
          </a:xfrm>
          <a:prstGeom prst="rect">
            <a:avLst/>
          </a:prstGeom>
          <a:noFill/>
          <a:ln/>
        </p:spPr>
        <p:txBody>
          <a:bodyPr wrap="square" lIns="0" tIns="0" rIns="0" bIns="0" rtlCol="0" anchor="ctr"/>
          <a:lstStyle/>
          <a:p>
            <a:pPr marL="0" indent="0">
              <a:lnSpc>
                <a:spcPct val="110000"/>
              </a:lnSpc>
              <a:buNone/>
            </a:pPr>
            <a:r>
              <a:rPr lang="en-US" sz="1100" dirty="0">
                <a:solidFill>
                  <a:srgbClr val="55686E"/>
                </a:solidFill>
                <a:latin typeface="Calibri" pitchFamily="34" charset="0"/>
                <a:ea typeface="Calibri" pitchFamily="34" charset="-122"/>
                <a:cs typeface="Calibri" pitchFamily="34" charset="-120"/>
              </a:rPr>
              <a:t>La boucle de production est automatisée. L'application de démonstration embarque son propre modèle et alimente le datalake ; l'API constitue le composant de production relié au registre MLflow. Les deux jouent des rôles distincts.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11155680" cy="64008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La boucle de réentraînement automatisée</a:t>
            </a:r>
            <a:endParaRPr lang="en-US" sz="3000" dirty="0"/>
          </a:p>
        </p:txBody>
      </p:sp>
      <p:sp>
        <p:nvSpPr>
          <p:cNvPr id="3" name="Text 1"/>
          <p:cNvSpPr txBox="1"/>
          <p:nvPr/>
        </p:nvSpPr>
        <p:spPr>
          <a:xfrm>
            <a:off x="502920" y="6419088"/>
            <a:ext cx="7315200" cy="32004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Auditeur de Cohérence Médicale</a:t>
            </a:r>
            <a:endParaRPr lang="en-US" sz="900" dirty="0"/>
          </a:p>
        </p:txBody>
      </p:sp>
      <p:sp>
        <p:nvSpPr>
          <p:cNvPr id="4" name="Text 2"/>
          <p:cNvSpPr txBox="1"/>
          <p:nvPr/>
        </p:nvSpPr>
        <p:spPr>
          <a:xfrm>
            <a:off x="11338560" y="6419088"/>
            <a:ext cx="365760" cy="320040"/>
          </a:xfrm>
          <a:prstGeom prst="rect">
            <a:avLst/>
          </a:prstGeom>
          <a:noFill/>
          <a:ln/>
        </p:spPr>
        <p:txBody>
          <a:bodyPr wrap="square" lIns="0" tIns="0" rIns="0" bIns="0" rtlCol="0" anchor="ctr"/>
          <a:lstStyle/>
          <a:p>
            <a:pPr marL="0" indent="0" algn="r">
              <a:buNone/>
            </a:pPr>
            <a:r>
              <a:rPr lang="en-US" sz="900" dirty="0">
                <a:solidFill>
                  <a:srgbClr val="55686E"/>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548640" y="1463040"/>
            <a:ext cx="548640" cy="548640"/>
          </a:xfrm>
          <a:prstGeom prst="ellipse">
            <a:avLst/>
          </a:prstGeom>
          <a:solidFill>
            <a:srgbClr val="0E7C86"/>
          </a:solidFill>
          <a:ln/>
        </p:spPr>
        <p:txBody>
          <a:bodyPr/>
          <a:lstStyle/>
          <a:p>
            <a:endParaRPr lang="fr-FR"/>
          </a:p>
        </p:txBody>
      </p:sp>
      <p:sp>
        <p:nvSpPr>
          <p:cNvPr id="6" name="Text 4"/>
          <p:cNvSpPr txBox="1"/>
          <p:nvPr/>
        </p:nvSpPr>
        <p:spPr>
          <a:xfrm>
            <a:off x="548640" y="14630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25880" y="1389888"/>
            <a:ext cx="10332720" cy="694944"/>
          </a:xfrm>
          <a:prstGeom prst="rect">
            <a:avLst/>
          </a:prstGeom>
          <a:noFill/>
          <a:ln/>
        </p:spPr>
        <p:txBody>
          <a:bodyPr wrap="square" lIns="0" tIns="0" rIns="0" bIns="0" rtlCol="0" anchor="ctr"/>
          <a:lstStyle/>
          <a:p>
            <a:pPr marL="0" indent="0">
              <a:lnSpc>
                <a:spcPct val="105000"/>
              </a:lnSpc>
              <a:buNone/>
            </a:pPr>
            <a:r>
              <a:rPr lang="en-US" sz="1400" dirty="0">
                <a:solidFill>
                  <a:srgbClr val="10323A"/>
                </a:solidFill>
                <a:latin typeface="Calibri" pitchFamily="34" charset="0"/>
                <a:ea typeface="Calibri" pitchFamily="34" charset="-122"/>
                <a:cs typeface="Calibri" pitchFamily="34" charset="-120"/>
              </a:rPr>
              <a:t>L'application journalise ses prédictions et les embeddings sémantiques associés dans le datalake Azure Blob Storage.</a:t>
            </a:r>
            <a:endParaRPr lang="en-US" sz="1400" dirty="0"/>
          </a:p>
        </p:txBody>
      </p:sp>
      <p:sp>
        <p:nvSpPr>
          <p:cNvPr id="8" name="Shape 6"/>
          <p:cNvSpPr/>
          <p:nvPr/>
        </p:nvSpPr>
        <p:spPr>
          <a:xfrm>
            <a:off x="548640" y="2258568"/>
            <a:ext cx="548640" cy="548640"/>
          </a:xfrm>
          <a:prstGeom prst="ellipse">
            <a:avLst/>
          </a:prstGeom>
          <a:solidFill>
            <a:srgbClr val="0E7C86"/>
          </a:solidFill>
          <a:ln/>
        </p:spPr>
        <p:txBody>
          <a:bodyPr/>
          <a:lstStyle/>
          <a:p>
            <a:endParaRPr lang="fr-FR"/>
          </a:p>
        </p:txBody>
      </p:sp>
      <p:sp>
        <p:nvSpPr>
          <p:cNvPr id="9" name="Text 7"/>
          <p:cNvSpPr txBox="1"/>
          <p:nvPr/>
        </p:nvSpPr>
        <p:spPr>
          <a:xfrm>
            <a:off x="548640" y="225856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325880" y="2185416"/>
            <a:ext cx="10332720" cy="694944"/>
          </a:xfrm>
          <a:prstGeom prst="rect">
            <a:avLst/>
          </a:prstGeom>
          <a:noFill/>
          <a:ln/>
        </p:spPr>
        <p:txBody>
          <a:bodyPr wrap="square" lIns="0" tIns="0" rIns="0" bIns="0" rtlCol="0" anchor="ctr"/>
          <a:lstStyle/>
          <a:p>
            <a:pPr marL="0" indent="0">
              <a:lnSpc>
                <a:spcPct val="105000"/>
              </a:lnSpc>
              <a:buNone/>
            </a:pPr>
            <a:r>
              <a:rPr lang="en-US" sz="1400" dirty="0">
                <a:solidFill>
                  <a:srgbClr val="10323A"/>
                </a:solidFill>
                <a:latin typeface="Calibri" pitchFamily="34" charset="0"/>
                <a:ea typeface="Calibri" pitchFamily="34" charset="-122"/>
                <a:cs typeface="Calibri" pitchFamily="34" charset="-120"/>
              </a:rPr>
              <a:t>Un workflow planifié (GitHub Actions) mesure quotidiennement la dérive sémantique avec Evidently.</a:t>
            </a:r>
            <a:endParaRPr lang="en-US" sz="1400" dirty="0"/>
          </a:p>
        </p:txBody>
      </p:sp>
      <p:sp>
        <p:nvSpPr>
          <p:cNvPr id="11" name="Shape 9"/>
          <p:cNvSpPr/>
          <p:nvPr/>
        </p:nvSpPr>
        <p:spPr>
          <a:xfrm>
            <a:off x="548640" y="3054096"/>
            <a:ext cx="548640" cy="548640"/>
          </a:xfrm>
          <a:prstGeom prst="ellipse">
            <a:avLst/>
          </a:prstGeom>
          <a:solidFill>
            <a:srgbClr val="0E7C86"/>
          </a:solidFill>
          <a:ln/>
        </p:spPr>
        <p:txBody>
          <a:bodyPr/>
          <a:lstStyle/>
          <a:p>
            <a:endParaRPr lang="fr-FR"/>
          </a:p>
        </p:txBody>
      </p:sp>
      <p:sp>
        <p:nvSpPr>
          <p:cNvPr id="12" name="Text 10"/>
          <p:cNvSpPr txBox="1"/>
          <p:nvPr/>
        </p:nvSpPr>
        <p:spPr>
          <a:xfrm>
            <a:off x="548640" y="305409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3" name="Text 11"/>
          <p:cNvSpPr txBox="1"/>
          <p:nvPr/>
        </p:nvSpPr>
        <p:spPr>
          <a:xfrm>
            <a:off x="1325880" y="2980944"/>
            <a:ext cx="10332720" cy="694944"/>
          </a:xfrm>
          <a:prstGeom prst="rect">
            <a:avLst/>
          </a:prstGeom>
          <a:noFill/>
          <a:ln/>
        </p:spPr>
        <p:txBody>
          <a:bodyPr wrap="square" lIns="0" tIns="0" rIns="0" bIns="0" rtlCol="0" anchor="ctr"/>
          <a:lstStyle/>
          <a:p>
            <a:pPr marL="0" indent="0">
              <a:lnSpc>
                <a:spcPct val="105000"/>
              </a:lnSpc>
              <a:buNone/>
            </a:pPr>
            <a:r>
              <a:rPr lang="en-US" sz="1400" dirty="0">
                <a:solidFill>
                  <a:srgbClr val="10323A"/>
                </a:solidFill>
                <a:latin typeface="Calibri" pitchFamily="34" charset="0"/>
                <a:ea typeface="Calibri" pitchFamily="34" charset="-122"/>
                <a:cs typeface="Calibri" pitchFamily="34" charset="-120"/>
              </a:rPr>
              <a:t>Au-delà du seuil de 0,55, un signal de type repository_dispatch est émis vers le dépôt du projet.</a:t>
            </a:r>
            <a:endParaRPr lang="en-US" sz="1400" dirty="0"/>
          </a:p>
        </p:txBody>
      </p:sp>
      <p:sp>
        <p:nvSpPr>
          <p:cNvPr id="14" name="Shape 12"/>
          <p:cNvSpPr/>
          <p:nvPr/>
        </p:nvSpPr>
        <p:spPr>
          <a:xfrm>
            <a:off x="548640" y="3849624"/>
            <a:ext cx="548640" cy="548640"/>
          </a:xfrm>
          <a:prstGeom prst="ellipse">
            <a:avLst/>
          </a:prstGeom>
          <a:solidFill>
            <a:srgbClr val="0E7C86"/>
          </a:solidFill>
          <a:ln/>
        </p:spPr>
        <p:txBody>
          <a:bodyPr/>
          <a:lstStyle/>
          <a:p>
            <a:endParaRPr lang="fr-FR"/>
          </a:p>
        </p:txBody>
      </p:sp>
      <p:sp>
        <p:nvSpPr>
          <p:cNvPr id="15" name="Text 13"/>
          <p:cNvSpPr txBox="1"/>
          <p:nvPr/>
        </p:nvSpPr>
        <p:spPr>
          <a:xfrm>
            <a:off x="548640" y="384962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6" name="Text 14"/>
          <p:cNvSpPr txBox="1"/>
          <p:nvPr/>
        </p:nvSpPr>
        <p:spPr>
          <a:xfrm>
            <a:off x="1325880" y="3776472"/>
            <a:ext cx="10332720" cy="694944"/>
          </a:xfrm>
          <a:prstGeom prst="rect">
            <a:avLst/>
          </a:prstGeom>
          <a:noFill/>
          <a:ln/>
        </p:spPr>
        <p:txBody>
          <a:bodyPr wrap="square" lIns="0" tIns="0" rIns="0" bIns="0" rtlCol="0" anchor="ctr"/>
          <a:lstStyle/>
          <a:p>
            <a:pPr marL="0" indent="0">
              <a:lnSpc>
                <a:spcPct val="105000"/>
              </a:lnSpc>
              <a:buNone/>
            </a:pPr>
            <a:r>
              <a:rPr lang="en-US" sz="1400" dirty="0">
                <a:solidFill>
                  <a:srgbClr val="10323A"/>
                </a:solidFill>
                <a:latin typeface="Calibri" pitchFamily="34" charset="0"/>
                <a:ea typeface="Calibri" pitchFamily="34" charset="-122"/>
                <a:cs typeface="Calibri" pitchFamily="34" charset="-120"/>
              </a:rPr>
              <a:t>Ce signal déclenche le workflow de réentraînement, qui relance l'entraînement sur Kaggle via son API.</a:t>
            </a:r>
            <a:endParaRPr lang="en-US" sz="1400" dirty="0"/>
          </a:p>
        </p:txBody>
      </p:sp>
      <p:sp>
        <p:nvSpPr>
          <p:cNvPr id="17" name="Shape 15"/>
          <p:cNvSpPr/>
          <p:nvPr/>
        </p:nvSpPr>
        <p:spPr>
          <a:xfrm>
            <a:off x="548640" y="4645152"/>
            <a:ext cx="548640" cy="548640"/>
          </a:xfrm>
          <a:prstGeom prst="ellipse">
            <a:avLst/>
          </a:prstGeom>
          <a:solidFill>
            <a:srgbClr val="0E7C86"/>
          </a:solidFill>
          <a:ln/>
        </p:spPr>
        <p:txBody>
          <a:bodyPr/>
          <a:lstStyle/>
          <a:p>
            <a:endParaRPr lang="fr-FR"/>
          </a:p>
        </p:txBody>
      </p:sp>
      <p:sp>
        <p:nvSpPr>
          <p:cNvPr id="18" name="Text 16"/>
          <p:cNvSpPr txBox="1"/>
          <p:nvPr/>
        </p:nvSpPr>
        <p:spPr>
          <a:xfrm>
            <a:off x="548640" y="464515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9" name="Text 17"/>
          <p:cNvSpPr txBox="1"/>
          <p:nvPr/>
        </p:nvSpPr>
        <p:spPr>
          <a:xfrm>
            <a:off x="1325880" y="4572000"/>
            <a:ext cx="10332720" cy="694944"/>
          </a:xfrm>
          <a:prstGeom prst="rect">
            <a:avLst/>
          </a:prstGeom>
          <a:noFill/>
          <a:ln/>
        </p:spPr>
        <p:txBody>
          <a:bodyPr wrap="square" lIns="0" tIns="0" rIns="0" bIns="0" rtlCol="0" anchor="ctr"/>
          <a:lstStyle/>
          <a:p>
            <a:pPr marL="0" indent="0">
              <a:lnSpc>
                <a:spcPct val="105000"/>
              </a:lnSpc>
              <a:buNone/>
            </a:pPr>
            <a:r>
              <a:rPr lang="en-US" sz="1400" dirty="0">
                <a:solidFill>
                  <a:srgbClr val="10323A"/>
                </a:solidFill>
                <a:latin typeface="Calibri" pitchFamily="34" charset="0"/>
                <a:ea typeface="Calibri" pitchFamily="34" charset="-122"/>
                <a:cs typeface="Calibri" pitchFamily="34" charset="-120"/>
              </a:rPr>
              <a:t>Le modèle est journalisé dans MLflow, enregistré au registre et promu en production s'il améliore la perte de validation.</a:t>
            </a:r>
            <a:endParaRPr lang="en-US" sz="1400" dirty="0"/>
          </a:p>
        </p:txBody>
      </p:sp>
      <p:sp>
        <p:nvSpPr>
          <p:cNvPr id="20" name="Shape 18"/>
          <p:cNvSpPr/>
          <p:nvPr/>
        </p:nvSpPr>
        <p:spPr>
          <a:xfrm>
            <a:off x="548640" y="5440680"/>
            <a:ext cx="548640" cy="548640"/>
          </a:xfrm>
          <a:prstGeom prst="ellipse">
            <a:avLst/>
          </a:prstGeom>
          <a:solidFill>
            <a:srgbClr val="0E7C86"/>
          </a:solidFill>
          <a:ln/>
        </p:spPr>
        <p:txBody>
          <a:bodyPr/>
          <a:lstStyle/>
          <a:p>
            <a:endParaRPr lang="fr-FR"/>
          </a:p>
        </p:txBody>
      </p:sp>
      <p:sp>
        <p:nvSpPr>
          <p:cNvPr id="21" name="Text 19"/>
          <p:cNvSpPr txBox="1"/>
          <p:nvPr/>
        </p:nvSpPr>
        <p:spPr>
          <a:xfrm>
            <a:off x="548640" y="54406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2" name="Text 20"/>
          <p:cNvSpPr txBox="1"/>
          <p:nvPr/>
        </p:nvSpPr>
        <p:spPr>
          <a:xfrm>
            <a:off x="1325880" y="5367528"/>
            <a:ext cx="10332720" cy="694944"/>
          </a:xfrm>
          <a:prstGeom prst="rect">
            <a:avLst/>
          </a:prstGeom>
          <a:noFill/>
          <a:ln/>
        </p:spPr>
        <p:txBody>
          <a:bodyPr wrap="square" lIns="0" tIns="0" rIns="0" bIns="0" rtlCol="0" anchor="ctr"/>
          <a:lstStyle/>
          <a:p>
            <a:pPr marL="0" indent="0">
              <a:lnSpc>
                <a:spcPct val="105000"/>
              </a:lnSpc>
              <a:buNone/>
            </a:pPr>
            <a:r>
              <a:rPr lang="en-US" sz="1400" dirty="0">
                <a:solidFill>
                  <a:srgbClr val="10323A"/>
                </a:solidFill>
                <a:latin typeface="Calibri" pitchFamily="34" charset="0"/>
                <a:ea typeface="Calibri" pitchFamily="34" charset="-122"/>
                <a:cs typeface="Calibri" pitchFamily="34" charset="-120"/>
              </a:rPr>
              <a:t>L'API recharge le modèle de production sans interruption de service, via sa route dédiée /reload-model.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20040"/>
            <a:ext cx="11155680" cy="64008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Architecture technique détaillée</a:t>
            </a:r>
            <a:endParaRPr lang="en-US" sz="3000" dirty="0"/>
          </a:p>
        </p:txBody>
      </p:sp>
      <p:sp>
        <p:nvSpPr>
          <p:cNvPr id="4" name="Shape 2"/>
          <p:cNvSpPr/>
          <p:nvPr/>
        </p:nvSpPr>
        <p:spPr>
          <a:xfrm>
            <a:off x="5815584" y="2834640"/>
            <a:ext cx="548640" cy="548640"/>
          </a:xfrm>
          <a:prstGeom prst="ellipse">
            <a:avLst/>
          </a:prstGeom>
          <a:solidFill>
            <a:srgbClr val="3AA0A7"/>
          </a:solidFill>
          <a:ln/>
        </p:spPr>
        <p:txBody>
          <a:bodyPr/>
          <a:lstStyle/>
          <a:p>
            <a:endParaRPr lang="fr-FR"/>
          </a:p>
        </p:txBody>
      </p:sp>
      <p:sp>
        <p:nvSpPr>
          <p:cNvPr id="5" name="Text 3"/>
          <p:cNvSpPr txBox="1"/>
          <p:nvPr/>
        </p:nvSpPr>
        <p:spPr>
          <a:xfrm>
            <a:off x="5815584" y="2798064"/>
            <a:ext cx="548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1371600" y="3611880"/>
            <a:ext cx="9445752" cy="640080"/>
          </a:xfrm>
          <a:prstGeom prst="rect">
            <a:avLst/>
          </a:prstGeom>
          <a:noFill/>
          <a:ln/>
        </p:spPr>
        <p:txBody>
          <a:bodyPr wrap="square" lIns="0" tIns="0" rIns="0" bIns="0" rtlCol="0" anchor="ctr"/>
          <a:lstStyle/>
          <a:p>
            <a:pPr marL="0" indent="0" algn="ctr">
              <a:buNone/>
            </a:pPr>
            <a:r>
              <a:rPr lang="en-US" sz="1300" dirty="0">
                <a:solidFill>
                  <a:srgbClr val="55686E"/>
                </a:solidFill>
                <a:latin typeface="Calibri" pitchFamily="34" charset="0"/>
                <a:ea typeface="Calibri" pitchFamily="34" charset="-122"/>
                <a:cs typeface="Calibri" pitchFamily="34" charset="-120"/>
              </a:rPr>
              <a:t>Insérer ici le schéma d'architecture  (architecture_auditeur.png)</a:t>
            </a:r>
            <a:endParaRPr lang="en-US" sz="1300" dirty="0"/>
          </a:p>
        </p:txBody>
      </p:sp>
      <p:sp>
        <p:nvSpPr>
          <p:cNvPr id="7" name="Text 5"/>
          <p:cNvSpPr txBox="1"/>
          <p:nvPr/>
        </p:nvSpPr>
        <p:spPr>
          <a:xfrm>
            <a:off x="731520" y="5715000"/>
            <a:ext cx="10698480" cy="640080"/>
          </a:xfrm>
          <a:prstGeom prst="rect">
            <a:avLst/>
          </a:prstGeom>
          <a:noFill/>
          <a:ln/>
        </p:spPr>
        <p:txBody>
          <a:bodyPr wrap="square" lIns="0" tIns="0" rIns="0" bIns="0" rtlCol="0" anchor="ctr"/>
          <a:lstStyle/>
          <a:p>
            <a:pPr marL="0" indent="0" algn="ctr">
              <a:lnSpc>
                <a:spcPct val="110000"/>
              </a:lnSpc>
              <a:buNone/>
            </a:pPr>
            <a:r>
              <a:rPr lang="en-US" sz="1200" i="1" dirty="0">
                <a:solidFill>
                  <a:srgbClr val="55686E"/>
                </a:solidFill>
                <a:latin typeface="Calibri" pitchFamily="34" charset="0"/>
                <a:ea typeface="Calibri" pitchFamily="34" charset="-122"/>
                <a:cs typeface="Calibri" pitchFamily="34" charset="-120"/>
              </a:rPr>
              <a:t>Vue complète de l'infrastructure : cloud (MLflow, Neon, Azure Blob Storage, registre de modèles), entraînement sur Kaggle, service de prédiction (API FastAPI), surveillance (Evidently) et orchestration par GitHub Actions.</a:t>
            </a:r>
            <a:endParaRPr lang="en-US" sz="1200" dirty="0"/>
          </a:p>
        </p:txBody>
      </p:sp>
      <p:sp>
        <p:nvSpPr>
          <p:cNvPr id="8" name="Text 6"/>
          <p:cNvSpPr txBox="1"/>
          <p:nvPr/>
        </p:nvSpPr>
        <p:spPr>
          <a:xfrm>
            <a:off x="502920" y="6419088"/>
            <a:ext cx="7315200" cy="32004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Auditeur de Cohérence Médicale</a:t>
            </a:r>
            <a:endParaRPr lang="en-US" sz="900" dirty="0"/>
          </a:p>
        </p:txBody>
      </p:sp>
      <p:sp>
        <p:nvSpPr>
          <p:cNvPr id="9" name="Text 7"/>
          <p:cNvSpPr txBox="1"/>
          <p:nvPr/>
        </p:nvSpPr>
        <p:spPr>
          <a:xfrm>
            <a:off x="11338560" y="6419088"/>
            <a:ext cx="365760" cy="320040"/>
          </a:xfrm>
          <a:prstGeom prst="rect">
            <a:avLst/>
          </a:prstGeom>
          <a:noFill/>
          <a:ln/>
        </p:spPr>
        <p:txBody>
          <a:bodyPr wrap="square" lIns="0" tIns="0" rIns="0" bIns="0" rtlCol="0" anchor="ctr"/>
          <a:lstStyle/>
          <a:p>
            <a:pPr marL="0" indent="0" algn="r">
              <a:buNone/>
            </a:pPr>
            <a:r>
              <a:rPr lang="en-US" sz="900" dirty="0">
                <a:solidFill>
                  <a:srgbClr val="55686E"/>
                </a:solidFill>
                <a:latin typeface="Calibri" pitchFamily="34" charset="0"/>
                <a:ea typeface="Calibri" pitchFamily="34" charset="-122"/>
                <a:cs typeface="Calibri" pitchFamily="34" charset="-120"/>
              </a:rPr>
              <a:t>5</a:t>
            </a:r>
            <a:endParaRPr lang="en-US" sz="900" dirty="0"/>
          </a:p>
        </p:txBody>
      </p:sp>
      <p:pic>
        <p:nvPicPr>
          <p:cNvPr id="11" name="Image 10">
            <a:extLst>
              <a:ext uri="{FF2B5EF4-FFF2-40B4-BE49-F238E27FC236}">
                <a16:creationId xmlns:a16="http://schemas.microsoft.com/office/drawing/2014/main" id="{C80C2258-78E8-6BC6-AF79-1A3805A212A3}"/>
              </a:ext>
            </a:extLst>
          </p:cNvPr>
          <p:cNvPicPr>
            <a:picLocks noChangeAspect="1"/>
          </p:cNvPicPr>
          <p:nvPr/>
        </p:nvPicPr>
        <p:blipFill>
          <a:blip r:embed="rId3"/>
          <a:stretch>
            <a:fillRect/>
          </a:stretch>
        </p:blipFill>
        <p:spPr>
          <a:xfrm>
            <a:off x="1062228" y="934959"/>
            <a:ext cx="10055352" cy="48234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11155680" cy="64008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Gestion des versions et promotion contrôlée</a:t>
            </a:r>
            <a:endParaRPr lang="en-US" sz="3000" dirty="0"/>
          </a:p>
        </p:txBody>
      </p:sp>
      <p:sp>
        <p:nvSpPr>
          <p:cNvPr id="3" name="Text 1"/>
          <p:cNvSpPr txBox="1"/>
          <p:nvPr/>
        </p:nvSpPr>
        <p:spPr>
          <a:xfrm>
            <a:off x="502920" y="6419088"/>
            <a:ext cx="7315200" cy="32004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Auditeur de Cohérence Médicale</a:t>
            </a:r>
            <a:endParaRPr lang="en-US" sz="900" dirty="0"/>
          </a:p>
        </p:txBody>
      </p:sp>
      <p:sp>
        <p:nvSpPr>
          <p:cNvPr id="4" name="Text 2"/>
          <p:cNvSpPr txBox="1"/>
          <p:nvPr/>
        </p:nvSpPr>
        <p:spPr>
          <a:xfrm>
            <a:off x="11338560" y="6419088"/>
            <a:ext cx="365760" cy="320040"/>
          </a:xfrm>
          <a:prstGeom prst="rect">
            <a:avLst/>
          </a:prstGeom>
          <a:noFill/>
          <a:ln/>
        </p:spPr>
        <p:txBody>
          <a:bodyPr wrap="square" lIns="0" tIns="0" rIns="0" bIns="0" rtlCol="0" anchor="ctr"/>
          <a:lstStyle/>
          <a:p>
            <a:pPr marL="0" indent="0" algn="r">
              <a:buNone/>
            </a:pPr>
            <a:r>
              <a:rPr lang="en-US" sz="900" dirty="0">
                <a:solidFill>
                  <a:srgbClr val="55686E"/>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502920" y="1508760"/>
            <a:ext cx="5394960" cy="2606040"/>
          </a:xfrm>
          <a:prstGeom prst="roundRect">
            <a:avLst>
              <a:gd name="adj" fmla="val 2105"/>
            </a:avLst>
          </a:prstGeom>
          <a:solidFill>
            <a:srgbClr val="F4F4F5"/>
          </a:solidFill>
          <a:ln w="12700">
            <a:solidFill>
              <a:srgbClr val="55686E"/>
            </a:solidFill>
            <a:prstDash val="solid"/>
          </a:ln>
        </p:spPr>
        <p:txBody>
          <a:bodyPr/>
          <a:lstStyle/>
          <a:p>
            <a:endParaRPr lang="fr-FR"/>
          </a:p>
        </p:txBody>
      </p:sp>
      <p:sp>
        <p:nvSpPr>
          <p:cNvPr id="6" name="Text 4"/>
          <p:cNvSpPr txBox="1"/>
          <p:nvPr/>
        </p:nvSpPr>
        <p:spPr>
          <a:xfrm>
            <a:off x="777240" y="1783080"/>
            <a:ext cx="4846320" cy="2103120"/>
          </a:xfrm>
          <a:prstGeom prst="rect">
            <a:avLst/>
          </a:prstGeom>
          <a:noFill/>
          <a:ln/>
        </p:spPr>
        <p:txBody>
          <a:bodyPr wrap="square" rtlCol="0" anchor="t"/>
          <a:lstStyle/>
          <a:p>
            <a:pPr marL="0" indent="0">
              <a:lnSpc>
                <a:spcPct val="115000"/>
              </a:lnSpc>
              <a:spcAft>
                <a:spcPts val="800"/>
              </a:spcAft>
              <a:buNone/>
            </a:pPr>
            <a:r>
              <a:rPr lang="en-US" sz="1600" b="1" dirty="0">
                <a:solidFill>
                  <a:srgbClr val="55686E"/>
                </a:solidFill>
                <a:latin typeface="Calibri" pitchFamily="34" charset="0"/>
                <a:ea typeface="Calibri" pitchFamily="34" charset="-122"/>
                <a:cs typeface="Calibri" pitchFamily="34" charset="-120"/>
              </a:rPr>
              <a:t>Promotion manuelle</a:t>
            </a:r>
            <a:endParaRPr lang="en-US" sz="1600" dirty="0"/>
          </a:p>
          <a:p>
            <a:pPr marL="0" indent="0">
              <a:lnSpc>
                <a:spcPct val="115000"/>
              </a:lnSpc>
              <a:buNone/>
            </a:pPr>
            <a:r>
              <a:rPr lang="en-US" sz="1350" dirty="0">
                <a:solidFill>
                  <a:srgbClr val="10323A"/>
                </a:solidFill>
                <a:latin typeface="Calibri" pitchFamily="34" charset="0"/>
                <a:ea typeface="Calibri" pitchFamily="34" charset="-122"/>
                <a:cs typeface="Calibri" pitchFamily="34" charset="-120"/>
              </a:rPr>
              <a:t>Après un réentraînement, un intervenant humain décide de mettre le nouveau modèle en production. Aucune vérification automatique ne garantit qu'il soit supérieur au modèle en place.</a:t>
            </a:r>
            <a:endParaRPr lang="en-US" sz="1600" dirty="0"/>
          </a:p>
        </p:txBody>
      </p:sp>
      <p:sp>
        <p:nvSpPr>
          <p:cNvPr id="7" name="Shape 5"/>
          <p:cNvSpPr/>
          <p:nvPr/>
        </p:nvSpPr>
        <p:spPr>
          <a:xfrm>
            <a:off x="6263640" y="1508760"/>
            <a:ext cx="5394960" cy="2606040"/>
          </a:xfrm>
          <a:prstGeom prst="roundRect">
            <a:avLst>
              <a:gd name="adj" fmla="val 2105"/>
            </a:avLst>
          </a:prstGeom>
          <a:solidFill>
            <a:srgbClr val="EAF6F4"/>
          </a:solidFill>
          <a:ln w="19050">
            <a:solidFill>
              <a:srgbClr val="2F8F6B"/>
            </a:solidFill>
            <a:prstDash val="solid"/>
          </a:ln>
        </p:spPr>
        <p:txBody>
          <a:bodyPr/>
          <a:lstStyle/>
          <a:p>
            <a:endParaRPr lang="fr-FR"/>
          </a:p>
        </p:txBody>
      </p:sp>
      <p:sp>
        <p:nvSpPr>
          <p:cNvPr id="8" name="Text 6"/>
          <p:cNvSpPr txBox="1"/>
          <p:nvPr/>
        </p:nvSpPr>
        <p:spPr>
          <a:xfrm>
            <a:off x="6537960" y="1783080"/>
            <a:ext cx="4846320" cy="2103120"/>
          </a:xfrm>
          <a:prstGeom prst="rect">
            <a:avLst/>
          </a:prstGeom>
          <a:noFill/>
          <a:ln/>
        </p:spPr>
        <p:txBody>
          <a:bodyPr wrap="square" rtlCol="0" anchor="t"/>
          <a:lstStyle/>
          <a:p>
            <a:pPr marL="0" indent="0">
              <a:lnSpc>
                <a:spcPct val="115000"/>
              </a:lnSpc>
              <a:spcAft>
                <a:spcPts val="800"/>
              </a:spcAft>
              <a:buNone/>
            </a:pPr>
            <a:r>
              <a:rPr lang="en-US" sz="1600" b="1" dirty="0">
                <a:solidFill>
                  <a:srgbClr val="2F8F6B"/>
                </a:solidFill>
                <a:latin typeface="Calibri" pitchFamily="34" charset="0"/>
                <a:ea typeface="Calibri" pitchFamily="34" charset="-122"/>
                <a:cs typeface="Calibri" pitchFamily="34" charset="-120"/>
              </a:rPr>
              <a:t>Promotion conditionnelle automatisée</a:t>
            </a:r>
            <a:endParaRPr lang="en-US" sz="1600" dirty="0"/>
          </a:p>
          <a:p>
            <a:pPr marL="0" indent="0">
              <a:lnSpc>
                <a:spcPct val="115000"/>
              </a:lnSpc>
              <a:buNone/>
            </a:pPr>
            <a:r>
              <a:rPr lang="en-US" sz="1350" dirty="0">
                <a:solidFill>
                  <a:srgbClr val="10323A"/>
                </a:solidFill>
                <a:latin typeface="Calibri" pitchFamily="34" charset="0"/>
                <a:ea typeface="Calibri" pitchFamily="34" charset="-122"/>
                <a:cs typeface="Calibri" pitchFamily="34" charset="-120"/>
              </a:rPr>
              <a:t>Le nouveau modèle reçoit l'alias production uniquement si sa perte de validation est inférieure à celle du modèle en place. La comparaison est automatique et prévient toute régression. Le retour arrière consiste à repositionner l'alias sur une version antérieure.</a:t>
            </a:r>
            <a:endParaRPr lang="en-US" sz="1600" dirty="0"/>
          </a:p>
        </p:txBody>
      </p:sp>
      <p:sp>
        <p:nvSpPr>
          <p:cNvPr id="9" name="Shape 7"/>
          <p:cNvSpPr/>
          <p:nvPr/>
        </p:nvSpPr>
        <p:spPr>
          <a:xfrm>
            <a:off x="502920" y="4434840"/>
            <a:ext cx="11155680" cy="1371600"/>
          </a:xfrm>
          <a:prstGeom prst="roundRect">
            <a:avLst>
              <a:gd name="adj" fmla="val 4000"/>
            </a:avLst>
          </a:prstGeom>
          <a:solidFill>
            <a:srgbClr val="0B4F5C"/>
          </a:solidFill>
          <a:ln/>
        </p:spPr>
        <p:txBody>
          <a:bodyPr/>
          <a:lstStyle/>
          <a:p>
            <a:endParaRPr lang="fr-FR"/>
          </a:p>
        </p:txBody>
      </p:sp>
      <p:sp>
        <p:nvSpPr>
          <p:cNvPr id="10" name="Text 8"/>
          <p:cNvSpPr txBox="1"/>
          <p:nvPr/>
        </p:nvSpPr>
        <p:spPr>
          <a:xfrm>
            <a:off x="822960" y="4434840"/>
            <a:ext cx="10515600" cy="1371600"/>
          </a:xfrm>
          <a:prstGeom prst="rect">
            <a:avLst/>
          </a:prstGeom>
          <a:noFill/>
          <a:ln/>
        </p:spPr>
        <p:txBody>
          <a:bodyPr wrap="square" rtlCol="0" anchor="ctr"/>
          <a:lstStyle/>
          <a:p>
            <a:pPr marL="0" indent="0">
              <a:lnSpc>
                <a:spcPct val="110000"/>
              </a:lnSpc>
              <a:buNone/>
            </a:pPr>
            <a:r>
              <a:rPr lang="en-US" sz="1500" b="1" dirty="0">
                <a:solidFill>
                  <a:srgbClr val="FFFFFF"/>
                </a:solidFill>
                <a:latin typeface="Calibri" pitchFamily="34" charset="0"/>
                <a:ea typeface="Calibri" pitchFamily="34" charset="-122"/>
                <a:cs typeface="Calibri" pitchFamily="34" charset="-120"/>
              </a:rPr>
              <a:t>Vérification en conditions réelles : </a:t>
            </a:r>
            <a:r>
              <a:rPr lang="en-US" sz="1500" dirty="0">
                <a:solidFill>
                  <a:srgbClr val="DCEEEF"/>
                </a:solidFill>
                <a:latin typeface="Calibri" pitchFamily="34" charset="0"/>
                <a:ea typeface="Calibri" pitchFamily="34" charset="-122"/>
                <a:cs typeface="Calibri" pitchFamily="34" charset="-120"/>
              </a:rPr>
              <a:t>un réentraînement produisant une perte de validation de 0,30 a été écarté automatiquement, la version en production affichant une perte inférieure (0,28). Le modèle en place a été conservé.</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11155680" cy="64008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Démonstration</a:t>
            </a:r>
            <a:endParaRPr lang="en-US" sz="3000" dirty="0"/>
          </a:p>
        </p:txBody>
      </p:sp>
      <p:sp>
        <p:nvSpPr>
          <p:cNvPr id="3" name="Text 1"/>
          <p:cNvSpPr txBox="1"/>
          <p:nvPr/>
        </p:nvSpPr>
        <p:spPr>
          <a:xfrm>
            <a:off x="502920" y="6419088"/>
            <a:ext cx="7315200" cy="32004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Auditeur de Cohérence Médicale</a:t>
            </a:r>
            <a:endParaRPr lang="en-US" sz="900" dirty="0"/>
          </a:p>
        </p:txBody>
      </p:sp>
      <p:sp>
        <p:nvSpPr>
          <p:cNvPr id="4" name="Text 2"/>
          <p:cNvSpPr txBox="1"/>
          <p:nvPr/>
        </p:nvSpPr>
        <p:spPr>
          <a:xfrm>
            <a:off x="11338560" y="6419088"/>
            <a:ext cx="365760" cy="320040"/>
          </a:xfrm>
          <a:prstGeom prst="rect">
            <a:avLst/>
          </a:prstGeom>
          <a:noFill/>
          <a:ln/>
        </p:spPr>
        <p:txBody>
          <a:bodyPr wrap="square" lIns="0" tIns="0" rIns="0" bIns="0" rtlCol="0" anchor="ctr"/>
          <a:lstStyle/>
          <a:p>
            <a:pPr marL="0" indent="0" algn="r">
              <a:buNone/>
            </a:pPr>
            <a:r>
              <a:rPr lang="en-US" sz="900" dirty="0">
                <a:solidFill>
                  <a:srgbClr val="55686E"/>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3474720" y="2606040"/>
            <a:ext cx="822960" cy="822960"/>
          </a:xfrm>
          <a:prstGeom prst="ellipse">
            <a:avLst/>
          </a:prstGeom>
          <a:solidFill>
            <a:srgbClr val="0E7C86"/>
          </a:solidFill>
          <a:ln/>
        </p:spPr>
        <p:txBody>
          <a:bodyPr/>
          <a:lstStyle/>
          <a:p>
            <a:endParaRPr lang="fr-FR"/>
          </a:p>
        </p:txBody>
      </p:sp>
      <p:sp>
        <p:nvSpPr>
          <p:cNvPr id="7" name="Shape 5"/>
          <p:cNvSpPr/>
          <p:nvPr/>
        </p:nvSpPr>
        <p:spPr>
          <a:xfrm rot="5400000">
            <a:off x="3703320" y="2788920"/>
            <a:ext cx="411480" cy="457200"/>
          </a:xfrm>
          <a:prstGeom prst="triangle">
            <a:avLst/>
          </a:prstGeom>
          <a:solidFill>
            <a:srgbClr val="FFFFFF"/>
          </a:solidFill>
          <a:ln/>
        </p:spPr>
        <p:txBody>
          <a:bodyPr/>
          <a:lstStyle/>
          <a:p>
            <a:endParaRPr lang="fr-FR"/>
          </a:p>
        </p:txBody>
      </p:sp>
      <p:sp>
        <p:nvSpPr>
          <p:cNvPr id="8" name="Text 6"/>
          <p:cNvSpPr txBox="1"/>
          <p:nvPr/>
        </p:nvSpPr>
        <p:spPr>
          <a:xfrm>
            <a:off x="502920" y="3611880"/>
            <a:ext cx="6766560" cy="822960"/>
          </a:xfrm>
          <a:prstGeom prst="rect">
            <a:avLst/>
          </a:prstGeom>
          <a:noFill/>
          <a:ln/>
        </p:spPr>
        <p:txBody>
          <a:bodyPr wrap="square" lIns="0" tIns="0" rIns="0" bIns="0" rtlCol="0" anchor="ctr"/>
          <a:lstStyle/>
          <a:p>
            <a:pPr marL="0" indent="0" algn="ctr">
              <a:buNone/>
            </a:pPr>
            <a:r>
              <a:rPr lang="en-US" sz="1300" dirty="0">
                <a:solidFill>
                  <a:srgbClr val="55686E"/>
                </a:solidFill>
                <a:latin typeface="Calibri" pitchFamily="34" charset="0"/>
                <a:ea typeface="Calibri" pitchFamily="34" charset="-122"/>
                <a:cs typeface="Calibri" pitchFamily="34" charset="-120"/>
              </a:rPr>
              <a:t>Emplacement de la vidéo de démonstration</a:t>
            </a:r>
            <a:endParaRPr lang="en-US" sz="1300" dirty="0"/>
          </a:p>
        </p:txBody>
      </p:sp>
      <p:sp>
        <p:nvSpPr>
          <p:cNvPr id="9" name="Shape 7"/>
          <p:cNvSpPr/>
          <p:nvPr/>
        </p:nvSpPr>
        <p:spPr>
          <a:xfrm>
            <a:off x="7635240" y="1417320"/>
            <a:ext cx="4023360" cy="1234440"/>
          </a:xfrm>
          <a:prstGeom prst="roundRect">
            <a:avLst>
              <a:gd name="adj" fmla="val 5926"/>
            </a:avLst>
          </a:prstGeom>
          <a:solidFill>
            <a:srgbClr val="2F8F6B"/>
          </a:solidFill>
          <a:ln w="12700">
            <a:solidFill>
              <a:srgbClr val="FFFFFF"/>
            </a:solidFill>
            <a:prstDash val="solid"/>
          </a:ln>
        </p:spPr>
        <p:txBody>
          <a:bodyPr/>
          <a:lstStyle/>
          <a:p>
            <a:endParaRPr lang="fr-FR"/>
          </a:p>
        </p:txBody>
      </p:sp>
      <p:sp>
        <p:nvSpPr>
          <p:cNvPr id="10" name="Text 8"/>
          <p:cNvSpPr txBox="1"/>
          <p:nvPr/>
        </p:nvSpPr>
        <p:spPr>
          <a:xfrm>
            <a:off x="7635240" y="1417320"/>
            <a:ext cx="4023360" cy="123444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Cas cohérent</a:t>
            </a:r>
            <a:endParaRPr lang="en-US" sz="1200" dirty="0"/>
          </a:p>
          <a:p>
            <a:pPr marL="0" indent="0" algn="ctr">
              <a:buNone/>
            </a:pPr>
            <a:r>
              <a:rPr lang="en-US" sz="900" dirty="0">
                <a:solidFill>
                  <a:srgbClr val="DFF0EA"/>
                </a:solidFill>
                <a:latin typeface="Calibri" pitchFamily="34" charset="0"/>
                <a:ea typeface="Calibri" pitchFamily="34" charset="-122"/>
                <a:cs typeface="Calibri" pitchFamily="34" charset="-120"/>
              </a:rPr>
              <a:t>vraie paire, verdict COHÉRENT, 91,8 %</a:t>
            </a:r>
            <a:endParaRPr lang="en-US" sz="1200" dirty="0"/>
          </a:p>
        </p:txBody>
      </p:sp>
      <p:sp>
        <p:nvSpPr>
          <p:cNvPr id="11" name="Shape 9"/>
          <p:cNvSpPr/>
          <p:nvPr/>
        </p:nvSpPr>
        <p:spPr>
          <a:xfrm>
            <a:off x="7635240" y="2880360"/>
            <a:ext cx="4023360" cy="1234440"/>
          </a:xfrm>
          <a:prstGeom prst="roundRect">
            <a:avLst>
              <a:gd name="adj" fmla="val 5926"/>
            </a:avLst>
          </a:prstGeom>
          <a:solidFill>
            <a:srgbClr val="D9663D"/>
          </a:solidFill>
          <a:ln w="12700">
            <a:solidFill>
              <a:srgbClr val="FFFFFF"/>
            </a:solidFill>
            <a:prstDash val="solid"/>
          </a:ln>
        </p:spPr>
        <p:txBody>
          <a:bodyPr/>
          <a:lstStyle/>
          <a:p>
            <a:endParaRPr lang="fr-FR"/>
          </a:p>
        </p:txBody>
      </p:sp>
      <p:sp>
        <p:nvSpPr>
          <p:cNvPr id="12" name="Text 10"/>
          <p:cNvSpPr txBox="1"/>
          <p:nvPr/>
        </p:nvSpPr>
        <p:spPr>
          <a:xfrm>
            <a:off x="7635240" y="2880360"/>
            <a:ext cx="4023360" cy="123444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Cas incohérent</a:t>
            </a:r>
            <a:endParaRPr lang="en-US" sz="1200" dirty="0"/>
          </a:p>
          <a:p>
            <a:pPr marL="0" indent="0" algn="ctr">
              <a:buNone/>
            </a:pPr>
            <a:r>
              <a:rPr lang="en-US" sz="900" dirty="0">
                <a:solidFill>
                  <a:srgbClr val="F7E2D8"/>
                </a:solidFill>
                <a:latin typeface="Calibri" pitchFamily="34" charset="0"/>
                <a:ea typeface="Calibri" pitchFamily="34" charset="-122"/>
                <a:cs typeface="Calibri" pitchFamily="34" charset="-120"/>
              </a:rPr>
              <a:t>compte rendu d'un autre examen, écarté</a:t>
            </a:r>
            <a:endParaRPr lang="en-US" sz="1200" dirty="0"/>
          </a:p>
        </p:txBody>
      </p:sp>
      <p:sp>
        <p:nvSpPr>
          <p:cNvPr id="13" name="Text 11"/>
          <p:cNvSpPr txBox="1"/>
          <p:nvPr/>
        </p:nvSpPr>
        <p:spPr>
          <a:xfrm>
            <a:off x="7635240" y="4343400"/>
            <a:ext cx="4023360" cy="822960"/>
          </a:xfrm>
          <a:prstGeom prst="rect">
            <a:avLst/>
          </a:prstGeom>
          <a:noFill/>
          <a:ln/>
        </p:spPr>
        <p:txBody>
          <a:bodyPr wrap="square" rtlCol="0" anchor="t"/>
          <a:lstStyle/>
          <a:p>
            <a:pPr marL="0" indent="0">
              <a:lnSpc>
                <a:spcPct val="110000"/>
              </a:lnSpc>
              <a:buNone/>
            </a:pPr>
            <a:r>
              <a:rPr lang="en-US" sz="1100" b="1" dirty="0">
                <a:solidFill>
                  <a:srgbClr val="10323A"/>
                </a:solidFill>
                <a:latin typeface="Calibri" pitchFamily="34" charset="0"/>
                <a:ea typeface="Calibri" pitchFamily="34" charset="-122"/>
                <a:cs typeface="Calibri" pitchFamily="34" charset="-120"/>
              </a:rPr>
              <a:t>Application en ligne : </a:t>
            </a:r>
            <a:r>
              <a:rPr lang="en-US" sz="1100" u="sng" dirty="0">
                <a:solidFill>
                  <a:srgbClr val="0E7C86"/>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huggingface.co/spaces/AichaFaHugFace/Auditeur-App-Gradio</a:t>
            </a:r>
            <a:endParaRPr lang="en-US" sz="1100" dirty="0"/>
          </a:p>
        </p:txBody>
      </p:sp>
      <p:sp>
        <p:nvSpPr>
          <p:cNvPr id="14" name="Text 12"/>
          <p:cNvSpPr txBox="1"/>
          <p:nvPr/>
        </p:nvSpPr>
        <p:spPr>
          <a:xfrm>
            <a:off x="502920" y="5074920"/>
            <a:ext cx="10972800" cy="457200"/>
          </a:xfrm>
          <a:prstGeom prst="rect">
            <a:avLst/>
          </a:prstGeom>
          <a:noFill/>
          <a:ln/>
        </p:spPr>
        <p:txBody>
          <a:bodyPr wrap="square" lIns="0" tIns="0" rIns="0" bIns="0" rtlCol="0" anchor="ctr"/>
          <a:lstStyle/>
          <a:p>
            <a:pPr marL="0" indent="0">
              <a:buNone/>
            </a:pPr>
            <a:r>
              <a:rPr lang="en-US" sz="1200" b="1" dirty="0">
                <a:solidFill>
                  <a:srgbClr val="10323A"/>
                </a:solidFill>
                <a:latin typeface="Calibri" pitchFamily="34" charset="0"/>
                <a:ea typeface="Calibri" pitchFamily="34" charset="-122"/>
                <a:cs typeface="Calibri" pitchFamily="34" charset="-120"/>
              </a:rPr>
              <a:t>Code source et vidéo : </a:t>
            </a:r>
            <a:r>
              <a:rPr lang="en-US" sz="1200" u="sng" dirty="0">
                <a:solidFill>
                  <a:srgbClr val="0E7C86"/>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github.com/AichaFa/projet_final_ACM</a:t>
            </a:r>
            <a:endParaRPr lang="en-US" sz="1200" dirty="0"/>
          </a:p>
        </p:txBody>
      </p:sp>
      <p:sp>
        <p:nvSpPr>
          <p:cNvPr id="15" name="Text 13"/>
          <p:cNvSpPr txBox="1"/>
          <p:nvPr/>
        </p:nvSpPr>
        <p:spPr>
          <a:xfrm>
            <a:off x="502920" y="5623560"/>
            <a:ext cx="11155680" cy="548640"/>
          </a:xfrm>
          <a:prstGeom prst="rect">
            <a:avLst/>
          </a:prstGeom>
          <a:noFill/>
          <a:ln/>
        </p:spPr>
        <p:txBody>
          <a:bodyPr wrap="square" lIns="0" tIns="0" rIns="0" bIns="0" rtlCol="0" anchor="ctr"/>
          <a:lstStyle/>
          <a:p>
            <a:pPr marL="0" indent="0">
              <a:lnSpc>
                <a:spcPct val="110000"/>
              </a:lnSpc>
              <a:buNone/>
            </a:pPr>
            <a:r>
              <a:rPr lang="en-US" sz="1100" i="1" dirty="0">
                <a:solidFill>
                  <a:srgbClr val="55686E"/>
                </a:solidFill>
                <a:latin typeface="Calibri" pitchFamily="34" charset="0"/>
                <a:ea typeface="Calibri" pitchFamily="34" charset="-122"/>
                <a:cs typeface="Calibri" pitchFamily="34" charset="-120"/>
              </a:rPr>
              <a:t>La démonstration s'appuie sur le modèle initial embarqué dans l'application ; la boucle de réentraînement produit et gère les versions suivantes dans le registre MLflow.</a:t>
            </a:r>
            <a:endParaRPr lang="en-US" sz="1100" dirty="0"/>
          </a:p>
        </p:txBody>
      </p:sp>
      <p:pic>
        <p:nvPicPr>
          <p:cNvPr id="16" name="Video Project">
            <a:hlinkClick r:id="" action="ppaction://media"/>
            <a:extLst>
              <a:ext uri="{FF2B5EF4-FFF2-40B4-BE49-F238E27FC236}">
                <a16:creationId xmlns:a16="http://schemas.microsoft.com/office/drawing/2014/main" id="{887B7F96-35F5-84AB-3078-5B9138561DE7}"/>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05442" y="1051560"/>
            <a:ext cx="6864038" cy="37764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2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11155680" cy="64008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Résultats et couverture fonctionnelle</a:t>
            </a:r>
            <a:endParaRPr lang="en-US" sz="3000" dirty="0"/>
          </a:p>
        </p:txBody>
      </p:sp>
      <p:sp>
        <p:nvSpPr>
          <p:cNvPr id="3" name="Text 1"/>
          <p:cNvSpPr txBox="1"/>
          <p:nvPr/>
        </p:nvSpPr>
        <p:spPr>
          <a:xfrm>
            <a:off x="502920" y="6419088"/>
            <a:ext cx="7315200" cy="32004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Auditeur de Cohérence Médicale</a:t>
            </a:r>
            <a:endParaRPr lang="en-US" sz="900" dirty="0"/>
          </a:p>
        </p:txBody>
      </p:sp>
      <p:sp>
        <p:nvSpPr>
          <p:cNvPr id="4" name="Text 2"/>
          <p:cNvSpPr txBox="1"/>
          <p:nvPr/>
        </p:nvSpPr>
        <p:spPr>
          <a:xfrm>
            <a:off x="11338560" y="6419088"/>
            <a:ext cx="365760" cy="320040"/>
          </a:xfrm>
          <a:prstGeom prst="rect">
            <a:avLst/>
          </a:prstGeom>
          <a:noFill/>
          <a:ln/>
        </p:spPr>
        <p:txBody>
          <a:bodyPr wrap="square" lIns="0" tIns="0" rIns="0" bIns="0" rtlCol="0" anchor="ctr"/>
          <a:lstStyle/>
          <a:p>
            <a:pPr marL="0" indent="0" algn="r">
              <a:buNone/>
            </a:pPr>
            <a:r>
              <a:rPr lang="en-US" sz="900" dirty="0">
                <a:solidFill>
                  <a:srgbClr val="55686E"/>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502920" y="1508760"/>
            <a:ext cx="2697480" cy="2286000"/>
          </a:xfrm>
          <a:prstGeom prst="roundRect">
            <a:avLst>
              <a:gd name="adj" fmla="val 2400"/>
            </a:avLst>
          </a:prstGeom>
          <a:solidFill>
            <a:srgbClr val="EAF6F4"/>
          </a:solidFill>
          <a:ln w="12700">
            <a:solidFill>
              <a:srgbClr val="DCEEEF"/>
            </a:solidFill>
            <a:prstDash val="solid"/>
          </a:ln>
        </p:spPr>
        <p:txBody>
          <a:bodyPr/>
          <a:lstStyle/>
          <a:p>
            <a:endParaRPr lang="fr-FR"/>
          </a:p>
        </p:txBody>
      </p:sp>
      <p:sp>
        <p:nvSpPr>
          <p:cNvPr id="6" name="Text 4"/>
          <p:cNvSpPr txBox="1"/>
          <p:nvPr/>
        </p:nvSpPr>
        <p:spPr>
          <a:xfrm>
            <a:off x="502920" y="1783080"/>
            <a:ext cx="2697480" cy="960120"/>
          </a:xfrm>
          <a:prstGeom prst="rect">
            <a:avLst/>
          </a:prstGeom>
          <a:noFill/>
          <a:ln/>
        </p:spPr>
        <p:txBody>
          <a:bodyPr wrap="square" lIns="0" tIns="0" rIns="0" bIns="0" rtlCol="0" anchor="ctr"/>
          <a:lstStyle/>
          <a:p>
            <a:pPr marL="0" indent="0" algn="ctr">
              <a:buNone/>
            </a:pPr>
            <a:r>
              <a:rPr lang="en-US" sz="3800" b="1" dirty="0">
                <a:solidFill>
                  <a:srgbClr val="0B4F5C"/>
                </a:solidFill>
                <a:latin typeface="Cambria" pitchFamily="34" charset="0"/>
                <a:ea typeface="Cambria" pitchFamily="34" charset="-122"/>
                <a:cs typeface="Cambria" pitchFamily="34" charset="-120"/>
              </a:rPr>
              <a:t>89 %</a:t>
            </a:r>
            <a:endParaRPr lang="en-US" sz="3800" dirty="0"/>
          </a:p>
        </p:txBody>
      </p:sp>
      <p:sp>
        <p:nvSpPr>
          <p:cNvPr id="7" name="Text 5"/>
          <p:cNvSpPr txBox="1"/>
          <p:nvPr/>
        </p:nvSpPr>
        <p:spPr>
          <a:xfrm>
            <a:off x="685800" y="2834640"/>
            <a:ext cx="2331720" cy="914400"/>
          </a:xfrm>
          <a:prstGeom prst="rect">
            <a:avLst/>
          </a:prstGeom>
          <a:noFill/>
          <a:ln/>
        </p:spPr>
        <p:txBody>
          <a:bodyPr wrap="square" rtlCol="0" anchor="t"/>
          <a:lstStyle/>
          <a:p>
            <a:pPr marL="0" indent="0" algn="ctr">
              <a:lnSpc>
                <a:spcPct val="110000"/>
              </a:lnSpc>
              <a:buNone/>
            </a:pPr>
            <a:r>
              <a:rPr lang="en-US" sz="1200" dirty="0">
                <a:solidFill>
                  <a:srgbClr val="10323A"/>
                </a:solidFill>
                <a:latin typeface="Calibri" pitchFamily="34" charset="0"/>
                <a:ea typeface="Calibri" pitchFamily="34" charset="-122"/>
                <a:cs typeface="Calibri" pitchFamily="34" charset="-120"/>
              </a:rPr>
              <a:t>exactitude de validation du modèle</a:t>
            </a:r>
            <a:endParaRPr lang="en-US" sz="1200" dirty="0"/>
          </a:p>
        </p:txBody>
      </p:sp>
      <p:sp>
        <p:nvSpPr>
          <p:cNvPr id="8" name="Shape 6"/>
          <p:cNvSpPr/>
          <p:nvPr/>
        </p:nvSpPr>
        <p:spPr>
          <a:xfrm>
            <a:off x="3337560" y="1508760"/>
            <a:ext cx="2697480" cy="2286000"/>
          </a:xfrm>
          <a:prstGeom prst="roundRect">
            <a:avLst>
              <a:gd name="adj" fmla="val 2400"/>
            </a:avLst>
          </a:prstGeom>
          <a:solidFill>
            <a:srgbClr val="EAF6F4"/>
          </a:solidFill>
          <a:ln w="12700">
            <a:solidFill>
              <a:srgbClr val="DCEEEF"/>
            </a:solidFill>
            <a:prstDash val="solid"/>
          </a:ln>
        </p:spPr>
        <p:txBody>
          <a:bodyPr/>
          <a:lstStyle/>
          <a:p>
            <a:endParaRPr lang="fr-FR"/>
          </a:p>
        </p:txBody>
      </p:sp>
      <p:sp>
        <p:nvSpPr>
          <p:cNvPr id="9" name="Text 7"/>
          <p:cNvSpPr txBox="1"/>
          <p:nvPr/>
        </p:nvSpPr>
        <p:spPr>
          <a:xfrm>
            <a:off x="3337560" y="1783080"/>
            <a:ext cx="2697480" cy="960120"/>
          </a:xfrm>
          <a:prstGeom prst="rect">
            <a:avLst/>
          </a:prstGeom>
          <a:noFill/>
          <a:ln/>
        </p:spPr>
        <p:txBody>
          <a:bodyPr wrap="square" lIns="0" tIns="0" rIns="0" bIns="0" rtlCol="0" anchor="ctr"/>
          <a:lstStyle/>
          <a:p>
            <a:pPr marL="0" indent="0" algn="ctr">
              <a:buNone/>
            </a:pPr>
            <a:r>
              <a:rPr lang="en-US" sz="3800" b="1" dirty="0">
                <a:solidFill>
                  <a:srgbClr val="0B4F5C"/>
                </a:solidFill>
                <a:latin typeface="Cambria" pitchFamily="34" charset="0"/>
                <a:ea typeface="Cambria" pitchFamily="34" charset="-122"/>
                <a:cs typeface="Cambria" pitchFamily="34" charset="-120"/>
              </a:rPr>
              <a:t>20 000</a:t>
            </a:r>
            <a:endParaRPr lang="en-US" sz="3800" dirty="0"/>
          </a:p>
        </p:txBody>
      </p:sp>
      <p:sp>
        <p:nvSpPr>
          <p:cNvPr id="10" name="Text 8"/>
          <p:cNvSpPr txBox="1"/>
          <p:nvPr/>
        </p:nvSpPr>
        <p:spPr>
          <a:xfrm>
            <a:off x="3520440" y="2834640"/>
            <a:ext cx="2331720" cy="914400"/>
          </a:xfrm>
          <a:prstGeom prst="rect">
            <a:avLst/>
          </a:prstGeom>
          <a:noFill/>
          <a:ln/>
        </p:spPr>
        <p:txBody>
          <a:bodyPr wrap="square" rtlCol="0" anchor="t"/>
          <a:lstStyle/>
          <a:p>
            <a:pPr marL="0" indent="0" algn="ctr">
              <a:lnSpc>
                <a:spcPct val="110000"/>
              </a:lnSpc>
              <a:buNone/>
            </a:pPr>
            <a:r>
              <a:rPr lang="en-US" sz="1200" dirty="0">
                <a:solidFill>
                  <a:srgbClr val="10323A"/>
                </a:solidFill>
                <a:latin typeface="Calibri" pitchFamily="34" charset="0"/>
                <a:ea typeface="Calibri" pitchFamily="34" charset="-122"/>
                <a:cs typeface="Calibri" pitchFamily="34" charset="-120"/>
              </a:rPr>
              <a:t>paires d'entraînement équilibrées</a:t>
            </a:r>
            <a:endParaRPr lang="en-US" sz="1200" dirty="0"/>
          </a:p>
        </p:txBody>
      </p:sp>
      <p:sp>
        <p:nvSpPr>
          <p:cNvPr id="11" name="Shape 9"/>
          <p:cNvSpPr/>
          <p:nvPr/>
        </p:nvSpPr>
        <p:spPr>
          <a:xfrm>
            <a:off x="6172200" y="1508760"/>
            <a:ext cx="2697480" cy="2286000"/>
          </a:xfrm>
          <a:prstGeom prst="roundRect">
            <a:avLst>
              <a:gd name="adj" fmla="val 2400"/>
            </a:avLst>
          </a:prstGeom>
          <a:solidFill>
            <a:srgbClr val="EAF6F4"/>
          </a:solidFill>
          <a:ln w="12700">
            <a:solidFill>
              <a:srgbClr val="DCEEEF"/>
            </a:solidFill>
            <a:prstDash val="solid"/>
          </a:ln>
        </p:spPr>
        <p:txBody>
          <a:bodyPr/>
          <a:lstStyle/>
          <a:p>
            <a:endParaRPr lang="fr-FR"/>
          </a:p>
        </p:txBody>
      </p:sp>
      <p:sp>
        <p:nvSpPr>
          <p:cNvPr id="12" name="Text 10"/>
          <p:cNvSpPr txBox="1"/>
          <p:nvPr/>
        </p:nvSpPr>
        <p:spPr>
          <a:xfrm>
            <a:off x="6172200" y="1783080"/>
            <a:ext cx="2697480" cy="960120"/>
          </a:xfrm>
          <a:prstGeom prst="rect">
            <a:avLst/>
          </a:prstGeom>
          <a:noFill/>
          <a:ln/>
        </p:spPr>
        <p:txBody>
          <a:bodyPr wrap="square" lIns="0" tIns="0" rIns="0" bIns="0" rtlCol="0" anchor="ctr"/>
          <a:lstStyle/>
          <a:p>
            <a:pPr marL="0" indent="0" algn="ctr">
              <a:buNone/>
            </a:pPr>
            <a:r>
              <a:rPr lang="en-US" sz="3800" b="1" dirty="0">
                <a:solidFill>
                  <a:srgbClr val="0B4F5C"/>
                </a:solidFill>
                <a:latin typeface="Cambria" pitchFamily="34" charset="0"/>
                <a:ea typeface="Cambria" pitchFamily="34" charset="-122"/>
                <a:cs typeface="Cambria" pitchFamily="34" charset="-120"/>
              </a:rPr>
              <a:t>91,8 %</a:t>
            </a:r>
            <a:endParaRPr lang="en-US" sz="3800" dirty="0"/>
          </a:p>
        </p:txBody>
      </p:sp>
      <p:sp>
        <p:nvSpPr>
          <p:cNvPr id="13" name="Text 11"/>
          <p:cNvSpPr txBox="1"/>
          <p:nvPr/>
        </p:nvSpPr>
        <p:spPr>
          <a:xfrm>
            <a:off x="6355080" y="2834640"/>
            <a:ext cx="2331720" cy="914400"/>
          </a:xfrm>
          <a:prstGeom prst="rect">
            <a:avLst/>
          </a:prstGeom>
          <a:noFill/>
          <a:ln/>
        </p:spPr>
        <p:txBody>
          <a:bodyPr wrap="square" rtlCol="0" anchor="t"/>
          <a:lstStyle/>
          <a:p>
            <a:pPr marL="0" indent="0" algn="ctr">
              <a:lnSpc>
                <a:spcPct val="110000"/>
              </a:lnSpc>
              <a:buNone/>
            </a:pPr>
            <a:r>
              <a:rPr lang="en-US" sz="1200" dirty="0">
                <a:solidFill>
                  <a:srgbClr val="10323A"/>
                </a:solidFill>
                <a:latin typeface="Calibri" pitchFamily="34" charset="0"/>
                <a:ea typeface="Calibri" pitchFamily="34" charset="-122"/>
                <a:cs typeface="Calibri" pitchFamily="34" charset="-120"/>
              </a:rPr>
              <a:t>confiance sur la vraie paire en démonstration</a:t>
            </a:r>
            <a:endParaRPr lang="en-US" sz="1200" dirty="0"/>
          </a:p>
        </p:txBody>
      </p:sp>
      <p:sp>
        <p:nvSpPr>
          <p:cNvPr id="14" name="Shape 12"/>
          <p:cNvSpPr/>
          <p:nvPr/>
        </p:nvSpPr>
        <p:spPr>
          <a:xfrm>
            <a:off x="9006840" y="1508760"/>
            <a:ext cx="2697480" cy="2286000"/>
          </a:xfrm>
          <a:prstGeom prst="roundRect">
            <a:avLst>
              <a:gd name="adj" fmla="val 2400"/>
            </a:avLst>
          </a:prstGeom>
          <a:solidFill>
            <a:srgbClr val="EAF6F4"/>
          </a:solidFill>
          <a:ln w="12700">
            <a:solidFill>
              <a:srgbClr val="DCEEEF"/>
            </a:solidFill>
            <a:prstDash val="solid"/>
          </a:ln>
        </p:spPr>
        <p:txBody>
          <a:bodyPr/>
          <a:lstStyle/>
          <a:p>
            <a:endParaRPr lang="fr-FR"/>
          </a:p>
        </p:txBody>
      </p:sp>
      <p:sp>
        <p:nvSpPr>
          <p:cNvPr id="15" name="Text 13"/>
          <p:cNvSpPr txBox="1"/>
          <p:nvPr/>
        </p:nvSpPr>
        <p:spPr>
          <a:xfrm>
            <a:off x="9006840" y="1783080"/>
            <a:ext cx="2697480" cy="960120"/>
          </a:xfrm>
          <a:prstGeom prst="rect">
            <a:avLst/>
          </a:prstGeom>
          <a:noFill/>
          <a:ln/>
        </p:spPr>
        <p:txBody>
          <a:bodyPr wrap="square" lIns="0" tIns="0" rIns="0" bIns="0" rtlCol="0" anchor="ctr"/>
          <a:lstStyle/>
          <a:p>
            <a:pPr marL="0" indent="0" algn="ctr">
              <a:buNone/>
            </a:pPr>
            <a:r>
              <a:rPr lang="en-US" sz="3800" b="1" dirty="0">
                <a:solidFill>
                  <a:srgbClr val="0B4F5C"/>
                </a:solidFill>
                <a:latin typeface="Cambria" pitchFamily="34" charset="0"/>
                <a:ea typeface="Cambria" pitchFamily="34" charset="-122"/>
                <a:cs typeface="Cambria" pitchFamily="34" charset="-120"/>
              </a:rPr>
              <a:t>0,55</a:t>
            </a:r>
            <a:endParaRPr lang="en-US" sz="3800" dirty="0"/>
          </a:p>
        </p:txBody>
      </p:sp>
      <p:sp>
        <p:nvSpPr>
          <p:cNvPr id="16" name="Text 14"/>
          <p:cNvSpPr txBox="1"/>
          <p:nvPr/>
        </p:nvSpPr>
        <p:spPr>
          <a:xfrm>
            <a:off x="9189720" y="2834640"/>
            <a:ext cx="2331720" cy="914400"/>
          </a:xfrm>
          <a:prstGeom prst="rect">
            <a:avLst/>
          </a:prstGeom>
          <a:noFill/>
          <a:ln/>
        </p:spPr>
        <p:txBody>
          <a:bodyPr wrap="square" rtlCol="0" anchor="t"/>
          <a:lstStyle/>
          <a:p>
            <a:pPr marL="0" indent="0" algn="ctr">
              <a:lnSpc>
                <a:spcPct val="110000"/>
              </a:lnSpc>
              <a:buNone/>
            </a:pPr>
            <a:r>
              <a:rPr lang="en-US" sz="1200" dirty="0">
                <a:solidFill>
                  <a:srgbClr val="10323A"/>
                </a:solidFill>
                <a:latin typeface="Calibri" pitchFamily="34" charset="0"/>
                <a:ea typeface="Calibri" pitchFamily="34" charset="-122"/>
                <a:cs typeface="Calibri" pitchFamily="34" charset="-120"/>
              </a:rPr>
              <a:t>seuil de dérive déclenchant le réentraînement</a:t>
            </a:r>
            <a:endParaRPr lang="en-US" sz="1200" dirty="0"/>
          </a:p>
        </p:txBody>
      </p:sp>
      <p:sp>
        <p:nvSpPr>
          <p:cNvPr id="17" name="Text 15"/>
          <p:cNvSpPr txBox="1"/>
          <p:nvPr/>
        </p:nvSpPr>
        <p:spPr>
          <a:xfrm>
            <a:off x="502920" y="4206240"/>
            <a:ext cx="11155680" cy="1463040"/>
          </a:xfrm>
          <a:prstGeom prst="rect">
            <a:avLst/>
          </a:prstGeom>
          <a:noFill/>
          <a:ln/>
        </p:spPr>
        <p:txBody>
          <a:bodyPr wrap="square" rtlCol="0" anchor="t"/>
          <a:lstStyle/>
          <a:p>
            <a:pPr marL="0" indent="0">
              <a:lnSpc>
                <a:spcPct val="120000"/>
              </a:lnSpc>
              <a:spcAft>
                <a:spcPts val="600"/>
              </a:spcAft>
              <a:buNone/>
            </a:pPr>
            <a:r>
              <a:rPr lang="en-US" sz="1500" b="1" dirty="0">
                <a:solidFill>
                  <a:srgbClr val="0E7C86"/>
                </a:solidFill>
                <a:latin typeface="Calibri" pitchFamily="34" charset="0"/>
                <a:ea typeface="Calibri" pitchFamily="34" charset="-122"/>
                <a:cs typeface="Calibri" pitchFamily="34" charset="-120"/>
              </a:rPr>
              <a:t>Couverture fonctionnelle</a:t>
            </a:r>
            <a:endParaRPr lang="en-US" sz="1500" dirty="0"/>
          </a:p>
          <a:p>
            <a:pPr marL="0" indent="0">
              <a:lnSpc>
                <a:spcPct val="120000"/>
              </a:lnSpc>
              <a:buNone/>
            </a:pPr>
            <a:r>
              <a:rPr lang="en-US" sz="1400" dirty="0">
                <a:solidFill>
                  <a:srgbClr val="10323A"/>
                </a:solidFill>
                <a:latin typeface="Calibri" pitchFamily="34" charset="0"/>
                <a:ea typeface="Calibri" pitchFamily="34" charset="-122"/>
                <a:cs typeface="Calibri" pitchFamily="34" charset="-120"/>
              </a:rPr>
              <a:t>Entraînement et suivi d'expériences (MLflow), registre de modèles versionné avec promotion conditionnelle, exposition par API REST conteneurisée (FastAPI, Docker), intégration continue (GitHub Actions), monitoring de dérive (Evidently) et réentraînement automatisé.</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4F5C"/>
        </a:solidFill>
        <a:effectLst/>
      </p:bgPr>
    </p:bg>
    <p:spTree>
      <p:nvGrpSpPr>
        <p:cNvPr id="1" name=""/>
        <p:cNvGrpSpPr/>
        <p:nvPr/>
      </p:nvGrpSpPr>
      <p:grpSpPr>
        <a:xfrm>
          <a:off x="0" y="0"/>
          <a:ext cx="0" cy="0"/>
          <a:chOff x="0" y="0"/>
          <a:chExt cx="0" cy="0"/>
        </a:xfrm>
      </p:grpSpPr>
      <p:sp>
        <p:nvSpPr>
          <p:cNvPr id="2" name="Text 0"/>
          <p:cNvSpPr txBox="1"/>
          <p:nvPr/>
        </p:nvSpPr>
        <p:spPr>
          <a:xfrm>
            <a:off x="502920" y="6419088"/>
            <a:ext cx="7315200" cy="320040"/>
          </a:xfrm>
          <a:prstGeom prst="rect">
            <a:avLst/>
          </a:prstGeom>
          <a:noFill/>
          <a:ln/>
        </p:spPr>
        <p:txBody>
          <a:bodyPr wrap="square" lIns="0" tIns="0" rIns="0" bIns="0" rtlCol="0" anchor="ctr"/>
          <a:lstStyle/>
          <a:p>
            <a:pPr marL="0" indent="0">
              <a:buNone/>
            </a:pPr>
            <a:r>
              <a:rPr lang="en-US" sz="900" dirty="0">
                <a:solidFill>
                  <a:srgbClr val="55686E"/>
                </a:solidFill>
                <a:latin typeface="Calibri" pitchFamily="34" charset="0"/>
                <a:ea typeface="Calibri" pitchFamily="34" charset="-122"/>
                <a:cs typeface="Calibri" pitchFamily="34" charset="-120"/>
              </a:rPr>
              <a:t>Auditeur de Cohérence Médicale</a:t>
            </a:r>
            <a:endParaRPr lang="en-US" sz="900" dirty="0"/>
          </a:p>
        </p:txBody>
      </p:sp>
      <p:sp>
        <p:nvSpPr>
          <p:cNvPr id="3" name="Text 1"/>
          <p:cNvSpPr txBox="1"/>
          <p:nvPr/>
        </p:nvSpPr>
        <p:spPr>
          <a:xfrm>
            <a:off x="11338560" y="6419088"/>
            <a:ext cx="365760" cy="320040"/>
          </a:xfrm>
          <a:prstGeom prst="rect">
            <a:avLst/>
          </a:prstGeom>
          <a:noFill/>
          <a:ln/>
        </p:spPr>
        <p:txBody>
          <a:bodyPr wrap="square" lIns="0" tIns="0" rIns="0" bIns="0" rtlCol="0" anchor="ctr"/>
          <a:lstStyle/>
          <a:p>
            <a:pPr marL="0" indent="0" algn="r">
              <a:buNone/>
            </a:pPr>
            <a:r>
              <a:rPr lang="en-US" sz="900" dirty="0">
                <a:solidFill>
                  <a:srgbClr val="55686E"/>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Perspectives d'industrialisation</a:t>
            </a:r>
            <a:endParaRPr lang="en-US" sz="3000" dirty="0"/>
          </a:p>
        </p:txBody>
      </p:sp>
      <p:sp>
        <p:nvSpPr>
          <p:cNvPr id="5" name="Shape 3"/>
          <p:cNvSpPr/>
          <p:nvPr/>
        </p:nvSpPr>
        <p:spPr>
          <a:xfrm>
            <a:off x="548640" y="1645920"/>
            <a:ext cx="256032" cy="256032"/>
          </a:xfrm>
          <a:prstGeom prst="ellipse">
            <a:avLst/>
          </a:prstGeom>
          <a:solidFill>
            <a:srgbClr val="3AA0A7"/>
          </a:solidFill>
          <a:ln/>
        </p:spPr>
        <p:txBody>
          <a:bodyPr/>
          <a:lstStyle/>
          <a:p>
            <a:endParaRPr lang="fr-FR"/>
          </a:p>
        </p:txBody>
      </p:sp>
      <p:sp>
        <p:nvSpPr>
          <p:cNvPr id="6" name="Text 4"/>
          <p:cNvSpPr txBox="1"/>
          <p:nvPr/>
        </p:nvSpPr>
        <p:spPr>
          <a:xfrm>
            <a:off x="1051560" y="1508760"/>
            <a:ext cx="10424160" cy="1097280"/>
          </a:xfrm>
          <a:prstGeom prst="rect">
            <a:avLst/>
          </a:prstGeom>
          <a:noFill/>
          <a:ln/>
        </p:spPr>
        <p:txBody>
          <a:bodyPr wrap="square" rtlCol="0" anchor="t"/>
          <a:lstStyle/>
          <a:p>
            <a:pPr marL="0" indent="0">
              <a:lnSpc>
                <a:spcPct val="112000"/>
              </a:lnSpc>
              <a:spcAft>
                <a:spcPts val="300"/>
              </a:spcAft>
              <a:buNone/>
            </a:pPr>
            <a:r>
              <a:rPr lang="en-US" sz="1500" b="1" dirty="0">
                <a:solidFill>
                  <a:srgbClr val="FFFFFF"/>
                </a:solidFill>
                <a:latin typeface="Calibri" pitchFamily="34" charset="0"/>
                <a:ea typeface="Calibri" pitchFamily="34" charset="-122"/>
                <a:cs typeface="Calibri" pitchFamily="34" charset="-120"/>
              </a:rPr>
              <a:t>Sécurisation du serveur MLflow</a:t>
            </a:r>
            <a:endParaRPr lang="en-US" sz="1500" dirty="0"/>
          </a:p>
          <a:p>
            <a:pPr marL="0" indent="0">
              <a:lnSpc>
                <a:spcPct val="112000"/>
              </a:lnSpc>
              <a:buNone/>
            </a:pPr>
            <a:r>
              <a:rPr lang="en-US" sz="1350" dirty="0">
                <a:solidFill>
                  <a:srgbClr val="DCEEEF"/>
                </a:solidFill>
                <a:latin typeface="Calibri" pitchFamily="34" charset="0"/>
                <a:ea typeface="Calibri" pitchFamily="34" charset="-122"/>
                <a:cs typeface="Calibri" pitchFamily="34" charset="-120"/>
              </a:rPr>
              <a:t>Ajout d'une authentification (mécanisme natif MLflow ou passerelle d'identité du fournisseur cloud), avec gestion des identifiants par secrets.</a:t>
            </a:r>
            <a:endParaRPr lang="en-US" sz="1500" dirty="0"/>
          </a:p>
        </p:txBody>
      </p:sp>
      <p:sp>
        <p:nvSpPr>
          <p:cNvPr id="7" name="Shape 5"/>
          <p:cNvSpPr/>
          <p:nvPr/>
        </p:nvSpPr>
        <p:spPr>
          <a:xfrm>
            <a:off x="548640" y="2926080"/>
            <a:ext cx="256032" cy="256032"/>
          </a:xfrm>
          <a:prstGeom prst="ellipse">
            <a:avLst/>
          </a:prstGeom>
          <a:solidFill>
            <a:srgbClr val="3AA0A7"/>
          </a:solidFill>
          <a:ln/>
        </p:spPr>
        <p:txBody>
          <a:bodyPr/>
          <a:lstStyle/>
          <a:p>
            <a:endParaRPr lang="fr-FR"/>
          </a:p>
        </p:txBody>
      </p:sp>
      <p:sp>
        <p:nvSpPr>
          <p:cNvPr id="8" name="Text 6"/>
          <p:cNvSpPr txBox="1"/>
          <p:nvPr/>
        </p:nvSpPr>
        <p:spPr>
          <a:xfrm>
            <a:off x="1051560" y="2788920"/>
            <a:ext cx="10424160" cy="1097280"/>
          </a:xfrm>
          <a:prstGeom prst="rect">
            <a:avLst/>
          </a:prstGeom>
          <a:noFill/>
          <a:ln/>
        </p:spPr>
        <p:txBody>
          <a:bodyPr wrap="square" rtlCol="0" anchor="t"/>
          <a:lstStyle/>
          <a:p>
            <a:pPr marL="0" indent="0">
              <a:lnSpc>
                <a:spcPct val="112000"/>
              </a:lnSpc>
              <a:spcAft>
                <a:spcPts val="300"/>
              </a:spcAft>
              <a:buNone/>
            </a:pPr>
            <a:r>
              <a:rPr lang="en-US" sz="1500" b="1" dirty="0">
                <a:solidFill>
                  <a:srgbClr val="FFFFFF"/>
                </a:solidFill>
                <a:latin typeface="Calibri" pitchFamily="34" charset="0"/>
                <a:ea typeface="Calibri" pitchFamily="34" charset="-122"/>
                <a:cs typeface="Calibri" pitchFamily="34" charset="-120"/>
              </a:rPr>
              <a:t>Convergence de la ressource de calcul</a:t>
            </a:r>
            <a:endParaRPr lang="en-US" sz="1500" dirty="0"/>
          </a:p>
          <a:p>
            <a:pPr marL="0" indent="0">
              <a:lnSpc>
                <a:spcPct val="112000"/>
              </a:lnSpc>
              <a:buNone/>
            </a:pPr>
            <a:r>
              <a:rPr lang="en-US" sz="1350" dirty="0">
                <a:solidFill>
                  <a:srgbClr val="DCEEEF"/>
                </a:solidFill>
                <a:latin typeface="Calibri" pitchFamily="34" charset="0"/>
                <a:ea typeface="Calibri" pitchFamily="34" charset="-122"/>
                <a:cs typeface="Calibri" pitchFamily="34" charset="-120"/>
              </a:rPr>
              <a:t>Migration du calcul GPU, aujourd'hui déporté sur Kaggle, vers une ressource intégrée au cloud de production lorsque le quota le permettra.</a:t>
            </a:r>
            <a:endParaRPr lang="en-US" sz="1500" dirty="0"/>
          </a:p>
        </p:txBody>
      </p:sp>
      <p:sp>
        <p:nvSpPr>
          <p:cNvPr id="9" name="Shape 7"/>
          <p:cNvSpPr/>
          <p:nvPr/>
        </p:nvSpPr>
        <p:spPr>
          <a:xfrm>
            <a:off x="548640" y="4206240"/>
            <a:ext cx="256032" cy="256032"/>
          </a:xfrm>
          <a:prstGeom prst="ellipse">
            <a:avLst/>
          </a:prstGeom>
          <a:solidFill>
            <a:srgbClr val="3AA0A7"/>
          </a:solidFill>
          <a:ln/>
        </p:spPr>
        <p:txBody>
          <a:bodyPr/>
          <a:lstStyle/>
          <a:p>
            <a:endParaRPr lang="fr-FR"/>
          </a:p>
        </p:txBody>
      </p:sp>
      <p:sp>
        <p:nvSpPr>
          <p:cNvPr id="10" name="Text 8"/>
          <p:cNvSpPr txBox="1"/>
          <p:nvPr/>
        </p:nvSpPr>
        <p:spPr>
          <a:xfrm>
            <a:off x="1051560" y="4069080"/>
            <a:ext cx="10424160" cy="1097280"/>
          </a:xfrm>
          <a:prstGeom prst="rect">
            <a:avLst/>
          </a:prstGeom>
          <a:noFill/>
          <a:ln/>
        </p:spPr>
        <p:txBody>
          <a:bodyPr wrap="square" rtlCol="0" anchor="t"/>
          <a:lstStyle/>
          <a:p>
            <a:pPr marL="0" indent="0">
              <a:lnSpc>
                <a:spcPct val="112000"/>
              </a:lnSpc>
              <a:spcAft>
                <a:spcPts val="300"/>
              </a:spcAft>
              <a:buNone/>
            </a:pPr>
            <a:r>
              <a:rPr lang="en-US" sz="1500" b="1" dirty="0">
                <a:solidFill>
                  <a:srgbClr val="FFFFFF"/>
                </a:solidFill>
                <a:latin typeface="Calibri" pitchFamily="34" charset="0"/>
                <a:ea typeface="Calibri" pitchFamily="34" charset="-122"/>
                <a:cs typeface="Calibri" pitchFamily="34" charset="-120"/>
              </a:rPr>
              <a:t>Alerte active sur dérive</a:t>
            </a:r>
            <a:endParaRPr lang="en-US" sz="1500" dirty="0"/>
          </a:p>
          <a:p>
            <a:pPr marL="0" indent="0">
              <a:lnSpc>
                <a:spcPct val="112000"/>
              </a:lnSpc>
              <a:buNone/>
            </a:pPr>
            <a:r>
              <a:rPr lang="en-US" sz="1350" dirty="0">
                <a:solidFill>
                  <a:srgbClr val="DCEEEF"/>
                </a:solidFill>
                <a:latin typeface="Calibri" pitchFamily="34" charset="0"/>
                <a:ea typeface="Calibri" pitchFamily="34" charset="-122"/>
                <a:cs typeface="Calibri" pitchFamily="34" charset="-120"/>
              </a:rPr>
              <a:t>Notification par courriel ou webhook en complément des rapports de dérive archivés, pour un pilotage proactif.</a:t>
            </a:r>
            <a:endParaRPr lang="en-US" sz="1500" dirty="0"/>
          </a:p>
        </p:txBody>
      </p:sp>
      <p:sp>
        <p:nvSpPr>
          <p:cNvPr id="11" name="Text 9"/>
          <p:cNvSpPr txBox="1"/>
          <p:nvPr/>
        </p:nvSpPr>
        <p:spPr>
          <a:xfrm>
            <a:off x="502920" y="5806440"/>
            <a:ext cx="11155680" cy="54864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Une chaîne MLOps complète couvrant l'ensemble du cycle de vie du modèle, de l'entraînement au réentraînement automatisé.</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951</Words>
  <Application>Microsoft Office PowerPoint</Application>
  <PresentationFormat>Grand écran</PresentationFormat>
  <Paragraphs>132</Paragraphs>
  <Slides>10</Slides>
  <Notes>10</Notes>
  <HiddenSlides>0</HiddenSlides>
  <MMClips>1</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Auditeur de Cohérence Médicale</dc:title>
  <dc:subject>PptxGenJS Presentation</dc:subject>
  <dc:creator>Aïcha Fathellah</dc:creator>
  <cp:lastModifiedBy>Aicha FATHELLAH</cp:lastModifiedBy>
  <cp:revision>4</cp:revision>
  <dcterms:created xsi:type="dcterms:W3CDTF">2026-09-29T22:37:55Z</dcterms:created>
  <dcterms:modified xsi:type="dcterms:W3CDTF">2026-09-30T19:23:55Z</dcterms:modified>
</cp:coreProperties>
</file>